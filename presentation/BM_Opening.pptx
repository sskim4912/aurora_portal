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장의 발표 메시지: 단순 반복 업무에 묶인 시간을 줄이고 BM의 핵심 업무로 돌린다. 문제는 반복 입력, 수정/누락 후 재확인, 수작업 취합과 송부다. 결과물은 식사 신청, 법인카드 영수증 관리, 현장 출입 신청 세 가지다. AI 도구(Codex)를 활용해 업무용 프로그램을 구현하고 Cloud 웹에서 운영한다. 영수증 시스템은 Cloud Vision OCR과 Vertex AI 분류를 실행 중에도 사용한다. 다른 두 시스템이 AI 판독을 사용한다는 뜻은 아니다. 영수증 기본정보는 AI 보조 입력 후 직원이 원본과 대조하고 실제 사용자·참석 인원·구체적인 목적·장소를 보완한다. 사진과 사용정보를 연결해 관리자 확인과 취합을 돕는다. 식사·출입의 내부 승인·자동집계·연동 기능은 확인 없이 추가하지 않았다. 효과는 기대효과/개선 방향이며 절감률이나 절감시간은 실측하지 않았다. 포털은 참고용이므로 본 장표에서 제외했다. 웹 자료는 환경 차단으로 열람하지 못했으며 웹 참고 완료를 주장하지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2834640"/>
          </a:xfrm>
          <a:prstGeom prst="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384048"/>
            <a:ext cx="420624" cy="45720"/>
          </a:xfrm>
          <a:prstGeom prst="rect">
            <a:avLst/>
          </a:prstGeom>
          <a:solidFill>
            <a:srgbClr val="65D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46888"/>
            <a:ext cx="128016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1">
                <a:solidFill>
                  <a:srgbClr val="80DFD9"/>
                </a:solidFill>
                <a:latin typeface="Noto Sans CJK KR"/>
              </a:defRPr>
            </a:pPr>
            <a:r>
              <a:t>AI CLOUD 기반 BM 업무 효율화  |  BM 워크샵 해커톤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32104"/>
            <a:ext cx="1345996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87" b="1">
                <a:solidFill>
                  <a:srgbClr val="FFFFFF"/>
                </a:solidFill>
                <a:latin typeface="Noto Sans CJK KR"/>
              </a:defRPr>
            </a:pPr>
            <a:r>
              <a:t>반복 업무에 묶인 BM의 시간,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345996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87" b="1">
                <a:solidFill>
                  <a:srgbClr val="77DFD5"/>
                </a:solidFill>
                <a:latin typeface="Noto Sans CJK KR"/>
              </a:defRPr>
            </a:pPr>
            <a:r>
              <a:t>AI·Cloud로 핵심 업무에 돌려줍니다.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368296"/>
            <a:ext cx="13441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0DEEA"/>
                </a:solidFill>
                <a:latin typeface="Noto Sans CJK KR"/>
              </a:defRPr>
            </a:pPr>
            <a:r>
              <a:t>영수증 관리 · 현장 출입 신청 · 식사 신청, 세 가지 업무의 디지털 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1181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52D46"/>
                </a:solidFill>
                <a:latin typeface="Noto Sans CJK KR"/>
              </a:defRPr>
            </a:pPr>
            <a:r>
              <a:t>우리가 주목한 낭비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017520"/>
            <a:ext cx="3127248" cy="548640"/>
          </a:xfrm>
          <a:prstGeom prst="roundRect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3136392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5D7185"/>
                </a:solidFill>
                <a:latin typeface="Noto Sans CJK KR"/>
              </a:defRPr>
            </a:pPr>
            <a:r>
              <a:t>같은 정보의 반복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01384" y="3017520"/>
            <a:ext cx="3127248" cy="548640"/>
          </a:xfrm>
          <a:prstGeom prst="roundRect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136392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5D7185"/>
                </a:solidFill>
                <a:latin typeface="Noto Sans CJK KR"/>
              </a:defRPr>
            </a:pPr>
            <a:r>
              <a:t>수정·누락에 따른 재확인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8088" y="3017520"/>
            <a:ext cx="4197096" cy="548640"/>
          </a:xfrm>
          <a:prstGeom prst="roundRect">
            <a:avLst/>
          </a:prstGeom>
          <a:solidFill>
            <a:srgbClr val="E4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21824" y="3136392"/>
            <a:ext cx="38496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5D7185"/>
                </a:solidFill>
                <a:latin typeface="Noto Sans CJK KR"/>
              </a:defRPr>
            </a:pPr>
            <a:r>
              <a:t>수작업 취합과 송부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3849624"/>
            <a:ext cx="4297680" cy="3218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" y="3849624"/>
            <a:ext cx="4297680" cy="54864"/>
          </a:xfrm>
          <a:prstGeom prst="rect">
            <a:avLst/>
          </a:prstGeom>
          <a:solidFill>
            <a:srgbClr val="175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5993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9704"/>
            <a:ext cx="3822191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152D46"/>
                </a:solidFill>
                <a:latin typeface="Noto Sans CJK KR"/>
              </a:defRPr>
            </a:pPr>
            <a:r>
              <a:t>법인카드 영수증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65776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기존  종이 제출·재입력·월말 재문의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13832"/>
            <a:ext cx="38221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75EAF"/>
                </a:solidFill>
                <a:latin typeface="Noto Sans CJK KR"/>
              </a:defRPr>
            </a:pPr>
            <a:r>
              <a:t>Vision·Vertex AI + Cloud 저장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025896"/>
            <a:ext cx="4005072" cy="87782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6126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008F99"/>
                </a:solidFill>
                <a:latin typeface="Noto Sans CJK KR"/>
              </a:defRPr>
            </a:pPr>
            <a:r>
              <a:t>사진을 업무 데이터로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656539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증빙·사용정보 연결, 확인 부담 완화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849624"/>
            <a:ext cx="4297680" cy="3218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60" y="3849624"/>
            <a:ext cx="4297680" cy="54864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4" y="405993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4489704"/>
            <a:ext cx="3822191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152D46"/>
                </a:solidFill>
                <a:latin typeface="Noto Sans CJK KR"/>
              </a:defRPr>
            </a:pPr>
            <a:r>
              <a:t>현장 출입 신청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4104" y="5065776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기존  신청정보 반복 전달·누락 재확인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5513832"/>
            <a:ext cx="38221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75EAF"/>
                </a:solidFill>
                <a:latin typeface="Noto Sans CJK KR"/>
              </a:defRPr>
            </a:pPr>
            <a:r>
              <a:t>Cloud 기반 온라인 출입 신청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6025896"/>
            <a:ext cx="4005072" cy="87782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6126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008F99"/>
                </a:solidFill>
                <a:latin typeface="Noto Sans CJK KR"/>
              </a:defRPr>
            </a:pPr>
            <a:r>
              <a:t>신청 경로를 하나로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656539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전달 과정의 혼선·재확인 줄이기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47504" y="3849624"/>
            <a:ext cx="4297680" cy="3218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47504" y="3849624"/>
            <a:ext cx="4297680" cy="54864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85248" y="405993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5248" y="4489704"/>
            <a:ext cx="3822191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152D46"/>
                </a:solidFill>
                <a:latin typeface="Noto Sans CJK KR"/>
              </a:defRPr>
            </a:pPr>
            <a:r>
              <a:t>식사 신청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5065776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39" b="0">
                <a:solidFill>
                  <a:srgbClr val="5D7185"/>
                </a:solidFill>
                <a:latin typeface="Noto Sans CJK KR"/>
              </a:defRPr>
            </a:pPr>
            <a:r>
              <a:t>기존  개별 접수와 변경사항 재취합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5513832"/>
            <a:ext cx="38221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75EAF"/>
                </a:solidFill>
                <a:latin typeface="Noto Sans CJK KR"/>
              </a:defRPr>
            </a:pPr>
            <a:r>
              <a:t>Cloud 웹 신청·내역 확인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93808" y="6025896"/>
            <a:ext cx="4005072" cy="877824"/>
          </a:xfrm>
          <a:prstGeom prst="roundRect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21824" y="6126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008F99"/>
                </a:solidFill>
                <a:latin typeface="Noto Sans CJK KR"/>
              </a:defRPr>
            </a:pPr>
            <a:r>
              <a:t>신청은 한곳에서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21824" y="656539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개별 접수·재취합 부담 완화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" y="7342631"/>
            <a:ext cx="134599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16" b="1">
                <a:solidFill>
                  <a:srgbClr val="152D46"/>
                </a:solidFill>
                <a:latin typeface="Noto Sans CJK KR"/>
              </a:defRPr>
            </a:pPr>
            <a:r>
              <a:t>AI로 구현하고 Cloud로 운영하여, BM은 비용 판단·이슈 대응·현장 지원에 집중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7927848"/>
            <a:ext cx="1271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8" b="0">
                <a:solidFill>
                  <a:srgbClr val="5D7185"/>
                </a:solidFill>
                <a:latin typeface="Noto Sans CJK KR"/>
              </a:defRPr>
            </a:pPr>
            <a:r>
              <a:t>AURORA PROJECT  /  BM WORKSHOP 2026.10.22–23    ·    구현 내용과 개선 방향 요약 / 정량 절감효과는 시범 운영으로 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0" y="785469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