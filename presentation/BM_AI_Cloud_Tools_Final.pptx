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5가지 설명은 사용자 요청 및 코덱스 개발 맥락에 따랐다. OpenAI는 회사이며 ChatGPT와 Codex는 그 도구임을 구분했다. 출입 URL permit-daesan-461e8.web.app은 Firebase Hosting 주소다. sskim4912/permit HEAD 4916dc9a에는 README만 있어 구현 코드를 확인하지 못했고 운영 페이지는 환경 프록시 403으로 읽지 못했다. 따라서 출입 Firestore/SOLAPI 사용을 단정하지 않았다. 식사 HEAD 916ba422의 meal_order_v2/README.md와 sms-worker/README.md에서 GitHub Pages, Firestore, Cloudflare Worker, SOLAPI 사용 확인. 문자는 관리자 수동 발송이며 자동 일정 등록은 없다고 명시되어 있어 자동 문자 발송으로 표현하지 않았다. 영수증 HEAD 4f51c0ad README와 worker 구현에서 Firestore, GCS, Cloud Vision, Vertex AI, Cloudflare 확인. README는 OpenAI API 미사용을 명시한다. 비밀값과 실제 이용자 데이터는 조회하지 않았다. 출입 내부 구성이 확인되면 해당 카드의 안내 문구를 확정 구성으로 바꿀 수 있다. 포털은 접속 참고용이며 이 자료에 별도 구성요소로 넣지 않았다.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00" cy="1847088"/>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13533120" cy="283464"/>
          </a:xfrm>
          <a:prstGeom prst="rect">
            <a:avLst/>
          </a:prstGeom>
          <a:noFill/>
        </p:spPr>
        <p:txBody>
          <a:bodyPr wrap="square" lIns="0" rIns="0" tIns="0" bIns="0">
            <a:spAutoFit/>
          </a:bodyPr>
          <a:lstStyle/>
          <a:p>
            <a:pPr>
              <a:spcAft>
                <a:spcPts val="500"/>
              </a:spcAft>
              <a:defRPr sz="1296" b="1">
                <a:solidFill>
                  <a:srgbClr val="ACC7DB"/>
                </a:solidFill>
                <a:latin typeface="Noto Sans CJK KR"/>
              </a:defRPr>
            </a:pPr>
            <a:r>
              <a:t>중부·강원 BM 지역협의체  |  BM 워크샵 해커톤</a:t>
            </a:r>
          </a:p>
        </p:txBody>
      </p:sp>
      <p:sp>
        <p:nvSpPr>
          <p:cNvPr id="5" name="TextBox 4"/>
          <p:cNvSpPr txBox="1"/>
          <p:nvPr/>
        </p:nvSpPr>
        <p:spPr>
          <a:xfrm>
            <a:off x="548640" y="685800"/>
            <a:ext cx="13533120" cy="585216"/>
          </a:xfrm>
          <a:prstGeom prst="rect">
            <a:avLst/>
          </a:prstGeom>
          <a:noFill/>
        </p:spPr>
        <p:txBody>
          <a:bodyPr wrap="square" lIns="0" rIns="0" tIns="0" bIns="0">
            <a:spAutoFit/>
          </a:bodyPr>
          <a:lstStyle/>
          <a:p>
            <a:pPr>
              <a:spcAft>
                <a:spcPts val="500"/>
              </a:spcAft>
              <a:defRPr sz="2952" b="1">
                <a:solidFill>
                  <a:srgbClr val="FFFFFF"/>
                </a:solidFill>
                <a:latin typeface="Noto Sans CJK KR"/>
              </a:defRPr>
            </a:pPr>
            <a:r>
              <a:t>세 가지 업무 시스템을 만든 AI·Cloud 도구와 역할</a:t>
            </a:r>
          </a:p>
        </p:txBody>
      </p:sp>
      <p:sp>
        <p:nvSpPr>
          <p:cNvPr id="6" name="TextBox 5"/>
          <p:cNvSpPr txBox="1"/>
          <p:nvPr/>
        </p:nvSpPr>
        <p:spPr>
          <a:xfrm>
            <a:off x="548640" y="1344168"/>
            <a:ext cx="13533120" cy="356616"/>
          </a:xfrm>
          <a:prstGeom prst="rect">
            <a:avLst/>
          </a:prstGeom>
          <a:noFill/>
        </p:spPr>
        <p:txBody>
          <a:bodyPr wrap="square" lIns="0" rIns="0" tIns="0" bIns="0">
            <a:spAutoFit/>
          </a:bodyPr>
          <a:lstStyle/>
          <a:p>
            <a:pPr>
              <a:spcAft>
                <a:spcPts val="500"/>
              </a:spcAft>
              <a:defRPr sz="1728" b="0">
                <a:solidFill>
                  <a:srgbClr val="D3E3EF"/>
                </a:solidFill>
                <a:latin typeface="Noto Sans CJK KR"/>
              </a:defRPr>
            </a:pPr>
            <a:r>
              <a:t>AI로 기획·개발하고, Cloud에 저장·배포하며, 필요한 업무를 문자로 연결합니다.</a:t>
            </a:r>
          </a:p>
        </p:txBody>
      </p:sp>
      <p:sp>
        <p:nvSpPr>
          <p:cNvPr id="7" name="TextBox 6"/>
          <p:cNvSpPr txBox="1"/>
          <p:nvPr/>
        </p:nvSpPr>
        <p:spPr>
          <a:xfrm>
            <a:off x="548640" y="2048256"/>
            <a:ext cx="13533120" cy="338328"/>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개발부터 운영까지, 다섯 가지 도구의 역할</a:t>
            </a:r>
          </a:p>
        </p:txBody>
      </p:sp>
      <p:sp>
        <p:nvSpPr>
          <p:cNvPr id="8" name="Rounded Rectangle 7"/>
          <p:cNvSpPr/>
          <p:nvPr/>
        </p:nvSpPr>
        <p:spPr>
          <a:xfrm>
            <a:off x="5486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01</a:t>
            </a:r>
          </a:p>
        </p:txBody>
      </p:sp>
      <p:sp>
        <p:nvSpPr>
          <p:cNvPr id="11" name="TextBox 10"/>
          <p:cNvSpPr txBox="1"/>
          <p:nvPr/>
        </p:nvSpPr>
        <p:spPr>
          <a:xfrm>
            <a:off x="7132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ChatGPT·Codex</a:t>
            </a:r>
          </a:p>
        </p:txBody>
      </p:sp>
      <p:sp>
        <p:nvSpPr>
          <p:cNvPr id="12" name="Rounded Rectangle 11"/>
          <p:cNvSpPr/>
          <p:nvPr/>
        </p:nvSpPr>
        <p:spPr>
          <a:xfrm>
            <a:off x="6949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AI 기획·개발</a:t>
            </a:r>
          </a:p>
        </p:txBody>
      </p:sp>
      <p:sp>
        <p:nvSpPr>
          <p:cNvPr id="14" name="TextBox 13"/>
          <p:cNvSpPr txBox="1"/>
          <p:nvPr/>
        </p:nvSpPr>
        <p:spPr>
          <a:xfrm>
            <a:off x="7132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OpenAI 도구로 요구사항 정리</a:t>
            </a:r>
          </a:p>
          <a:p>
            <a:pPr>
              <a:spcAft>
                <a:spcPts val="500"/>
              </a:spcAft>
              <a:defRPr sz="1296" b="0">
                <a:solidFill>
                  <a:srgbClr val="526C83"/>
                </a:solidFill>
                <a:latin typeface="Noto Sans CJK KR"/>
              </a:defRPr>
            </a:pPr>
            <a:r>
              <a:t>코드 작성·수정·검증 지원</a:t>
            </a:r>
          </a:p>
        </p:txBody>
      </p:sp>
      <p:sp>
        <p:nvSpPr>
          <p:cNvPr id="15" name="TextBox 14"/>
          <p:cNvSpPr txBox="1"/>
          <p:nvPr/>
        </p:nvSpPr>
        <p:spPr>
          <a:xfrm>
            <a:off x="7132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아이디어를 웹 기능으로</a:t>
            </a:r>
          </a:p>
        </p:txBody>
      </p:sp>
      <p:sp>
        <p:nvSpPr>
          <p:cNvPr id="16" name="Rounded Rectangle 15"/>
          <p:cNvSpPr/>
          <p:nvPr/>
        </p:nvSpPr>
        <p:spPr>
          <a:xfrm>
            <a:off x="32918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02</a:t>
            </a:r>
          </a:p>
        </p:txBody>
      </p:sp>
      <p:sp>
        <p:nvSpPr>
          <p:cNvPr id="19" name="TextBox 18"/>
          <p:cNvSpPr txBox="1"/>
          <p:nvPr/>
        </p:nvSpPr>
        <p:spPr>
          <a:xfrm>
            <a:off x="34564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Google Cloud</a:t>
            </a:r>
          </a:p>
        </p:txBody>
      </p:sp>
      <p:sp>
        <p:nvSpPr>
          <p:cNvPr id="20" name="Rounded Rectangle 19"/>
          <p:cNvSpPr/>
          <p:nvPr/>
        </p:nvSpPr>
        <p:spPr>
          <a:xfrm>
            <a:off x="34381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95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영수증 AI 판독</a:t>
            </a:r>
          </a:p>
        </p:txBody>
      </p:sp>
      <p:sp>
        <p:nvSpPr>
          <p:cNvPr id="22" name="TextBox 21"/>
          <p:cNvSpPr txBox="1"/>
          <p:nvPr/>
        </p:nvSpPr>
        <p:spPr>
          <a:xfrm>
            <a:off x="34564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Vision: 영수증 글자 인식</a:t>
            </a:r>
          </a:p>
          <a:p>
            <a:pPr>
              <a:spcAft>
                <a:spcPts val="500"/>
              </a:spcAft>
              <a:defRPr sz="1296" b="0">
                <a:solidFill>
                  <a:srgbClr val="526C83"/>
                </a:solidFill>
                <a:latin typeface="Noto Sans CJK KR"/>
              </a:defRPr>
            </a:pPr>
            <a:r>
              <a:t>Vertex AI: 항목 분류·정리</a:t>
            </a:r>
          </a:p>
        </p:txBody>
      </p:sp>
      <p:sp>
        <p:nvSpPr>
          <p:cNvPr id="23" name="TextBox 22"/>
          <p:cNvSpPr txBox="1"/>
          <p:nvPr/>
        </p:nvSpPr>
        <p:spPr>
          <a:xfrm>
            <a:off x="34564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영수증을 입력 데이터로</a:t>
            </a:r>
          </a:p>
        </p:txBody>
      </p:sp>
      <p:sp>
        <p:nvSpPr>
          <p:cNvPr id="24" name="Rounded Rectangle 23"/>
          <p:cNvSpPr/>
          <p:nvPr/>
        </p:nvSpPr>
        <p:spPr>
          <a:xfrm>
            <a:off x="60350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350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996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03</a:t>
            </a:r>
          </a:p>
        </p:txBody>
      </p:sp>
      <p:sp>
        <p:nvSpPr>
          <p:cNvPr id="27" name="TextBox 26"/>
          <p:cNvSpPr txBox="1"/>
          <p:nvPr/>
        </p:nvSpPr>
        <p:spPr>
          <a:xfrm>
            <a:off x="61996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GitHub</a:t>
            </a:r>
          </a:p>
        </p:txBody>
      </p:sp>
      <p:sp>
        <p:nvSpPr>
          <p:cNvPr id="28" name="Rounded Rectangle 27"/>
          <p:cNvSpPr/>
          <p:nvPr/>
        </p:nvSpPr>
        <p:spPr>
          <a:xfrm>
            <a:off x="61813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727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소스·버전 관리</a:t>
            </a:r>
          </a:p>
        </p:txBody>
      </p:sp>
      <p:sp>
        <p:nvSpPr>
          <p:cNvPr id="30" name="TextBox 29"/>
          <p:cNvSpPr txBox="1"/>
          <p:nvPr/>
        </p:nvSpPr>
        <p:spPr>
          <a:xfrm>
            <a:off x="61996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코드 보관·변경 이력 관리</a:t>
            </a:r>
          </a:p>
          <a:p>
            <a:pPr>
              <a:spcAft>
                <a:spcPts val="500"/>
              </a:spcAft>
              <a:defRPr sz="1296" b="0">
                <a:solidFill>
                  <a:srgbClr val="526C83"/>
                </a:solidFill>
                <a:latin typeface="Noto Sans CJK KR"/>
              </a:defRPr>
            </a:pPr>
            <a:r>
              <a:t>식사 웹화면: Pages 배포</a:t>
            </a:r>
          </a:p>
        </p:txBody>
      </p:sp>
      <p:sp>
        <p:nvSpPr>
          <p:cNvPr id="31" name="TextBox 30"/>
          <p:cNvSpPr txBox="1"/>
          <p:nvPr/>
        </p:nvSpPr>
        <p:spPr>
          <a:xfrm>
            <a:off x="61996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수정·배포 이력 관리</a:t>
            </a:r>
          </a:p>
        </p:txBody>
      </p:sp>
      <p:sp>
        <p:nvSpPr>
          <p:cNvPr id="32" name="Rounded Rectangle 31"/>
          <p:cNvSpPr/>
          <p:nvPr/>
        </p:nvSpPr>
        <p:spPr>
          <a:xfrm>
            <a:off x="87782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782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428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04</a:t>
            </a:r>
          </a:p>
        </p:txBody>
      </p:sp>
      <p:sp>
        <p:nvSpPr>
          <p:cNvPr id="35" name="TextBox 34"/>
          <p:cNvSpPr txBox="1"/>
          <p:nvPr/>
        </p:nvSpPr>
        <p:spPr>
          <a:xfrm>
            <a:off x="89428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Firebase</a:t>
            </a:r>
          </a:p>
        </p:txBody>
      </p:sp>
      <p:sp>
        <p:nvSpPr>
          <p:cNvPr id="36" name="Rounded Rectangle 35"/>
          <p:cNvSpPr/>
          <p:nvPr/>
        </p:nvSpPr>
        <p:spPr>
          <a:xfrm>
            <a:off x="89245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159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데이터·웹 운영</a:t>
            </a:r>
          </a:p>
        </p:txBody>
      </p:sp>
      <p:sp>
        <p:nvSpPr>
          <p:cNvPr id="38" name="TextBox 37"/>
          <p:cNvSpPr txBox="1"/>
          <p:nvPr/>
        </p:nvSpPr>
        <p:spPr>
          <a:xfrm>
            <a:off x="89428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식사·영수증: Firestore 저장</a:t>
            </a:r>
          </a:p>
          <a:p>
            <a:pPr>
              <a:spcAft>
                <a:spcPts val="500"/>
              </a:spcAft>
              <a:defRPr sz="1296" b="0">
                <a:solidFill>
                  <a:srgbClr val="526C83"/>
                </a:solidFill>
                <a:latin typeface="Noto Sans CJK KR"/>
              </a:defRPr>
            </a:pPr>
            <a:r>
              <a:t>출입 화면: Hosting 제공</a:t>
            </a:r>
          </a:p>
        </p:txBody>
      </p:sp>
      <p:sp>
        <p:nvSpPr>
          <p:cNvPr id="39" name="TextBox 38"/>
          <p:cNvSpPr txBox="1"/>
          <p:nvPr/>
        </p:nvSpPr>
        <p:spPr>
          <a:xfrm>
            <a:off x="89428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정보 저장·조회 기반</a:t>
            </a:r>
          </a:p>
        </p:txBody>
      </p:sp>
      <p:sp>
        <p:nvSpPr>
          <p:cNvPr id="40" name="Rounded Rectangle 39"/>
          <p:cNvSpPr/>
          <p:nvPr/>
        </p:nvSpPr>
        <p:spPr>
          <a:xfrm>
            <a:off x="11521440" y="2560320"/>
            <a:ext cx="2560320" cy="24780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521440" y="2560320"/>
            <a:ext cx="2560320" cy="54864"/>
          </a:xfrm>
          <a:prstGeom prst="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686032" y="2724912"/>
            <a:ext cx="2231136" cy="256032"/>
          </a:xfrm>
          <a:prstGeom prst="rect">
            <a:avLst/>
          </a:prstGeom>
          <a:noFill/>
        </p:spPr>
        <p:txBody>
          <a:bodyPr wrap="square" lIns="0" rIns="0" tIns="0" bIns="0">
            <a:spAutoFit/>
          </a:bodyPr>
          <a:lstStyle/>
          <a:p>
            <a:pPr>
              <a:spcAft>
                <a:spcPts val="500"/>
              </a:spcAft>
              <a:defRPr sz="1296" b="1">
                <a:solidFill>
                  <a:srgbClr val="526C83"/>
                </a:solidFill>
                <a:latin typeface="Noto Sans CJK KR"/>
              </a:defRPr>
            </a:pPr>
            <a:r>
              <a:t>05</a:t>
            </a:r>
          </a:p>
        </p:txBody>
      </p:sp>
      <p:sp>
        <p:nvSpPr>
          <p:cNvPr id="43" name="TextBox 42"/>
          <p:cNvSpPr txBox="1"/>
          <p:nvPr/>
        </p:nvSpPr>
        <p:spPr>
          <a:xfrm>
            <a:off x="11686032" y="3063240"/>
            <a:ext cx="2231136" cy="411480"/>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SOLAPI</a:t>
            </a:r>
          </a:p>
        </p:txBody>
      </p:sp>
      <p:sp>
        <p:nvSpPr>
          <p:cNvPr id="44" name="Rounded Rectangle 43"/>
          <p:cNvSpPr/>
          <p:nvPr/>
        </p:nvSpPr>
        <p:spPr>
          <a:xfrm>
            <a:off x="11667744" y="3557016"/>
            <a:ext cx="2267712" cy="329184"/>
          </a:xfrm>
          <a:prstGeom prst="roundRect">
            <a:avLst/>
          </a:prstGeom>
          <a:solidFill>
            <a:srgbClr val="DDE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759184" y="3602736"/>
            <a:ext cx="2084831" cy="274320"/>
          </a:xfrm>
          <a:prstGeom prst="rect">
            <a:avLst/>
          </a:prstGeom>
          <a:noFill/>
        </p:spPr>
        <p:txBody>
          <a:bodyPr wrap="square" lIns="0" rIns="0" tIns="0" bIns="0">
            <a:spAutoFit/>
          </a:bodyPr>
          <a:lstStyle/>
          <a:p>
            <a:pPr>
              <a:spcAft>
                <a:spcPts val="500"/>
              </a:spcAft>
              <a:defRPr sz="1512" b="1">
                <a:solidFill>
                  <a:srgbClr val="A23B36"/>
                </a:solidFill>
                <a:latin typeface="Noto Sans CJK KR"/>
              </a:defRPr>
            </a:pPr>
            <a:r>
              <a:t>식사 집계 문자</a:t>
            </a:r>
          </a:p>
        </p:txBody>
      </p:sp>
      <p:sp>
        <p:nvSpPr>
          <p:cNvPr id="46" name="TextBox 45"/>
          <p:cNvSpPr txBox="1"/>
          <p:nvPr/>
        </p:nvSpPr>
        <p:spPr>
          <a:xfrm>
            <a:off x="11686032" y="4023360"/>
            <a:ext cx="2231136" cy="667512"/>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관리자 집계 결과 문자 접수</a:t>
            </a:r>
          </a:p>
          <a:p>
            <a:pPr>
              <a:spcAft>
                <a:spcPts val="500"/>
              </a:spcAft>
              <a:defRPr sz="1296" b="0">
                <a:solidFill>
                  <a:srgbClr val="526C83"/>
                </a:solidFill>
                <a:latin typeface="Noto Sans CJK KR"/>
              </a:defRPr>
            </a:pPr>
            <a:r>
              <a:t>Cloudflare 서버를 통해 요청</a:t>
            </a:r>
          </a:p>
        </p:txBody>
      </p:sp>
      <p:sp>
        <p:nvSpPr>
          <p:cNvPr id="47" name="TextBox 46"/>
          <p:cNvSpPr txBox="1"/>
          <p:nvPr/>
        </p:nvSpPr>
        <p:spPr>
          <a:xfrm>
            <a:off x="11686032" y="4736592"/>
            <a:ext cx="2231136" cy="256032"/>
          </a:xfrm>
          <a:prstGeom prst="rect">
            <a:avLst/>
          </a:prstGeom>
          <a:noFill/>
        </p:spPr>
        <p:txBody>
          <a:bodyPr wrap="square" lIns="0" rIns="0" tIns="0" bIns="0">
            <a:spAutoFit/>
          </a:bodyPr>
          <a:lstStyle/>
          <a:p>
            <a:pPr>
              <a:spcAft>
                <a:spcPts val="500"/>
              </a:spcAft>
              <a:defRPr sz="1368" b="1">
                <a:solidFill>
                  <a:srgbClr val="17344F"/>
                </a:solidFill>
                <a:latin typeface="Noto Sans CJK KR"/>
              </a:defRPr>
            </a:pPr>
            <a:r>
              <a:t>담당자에게 집계 전달</a:t>
            </a:r>
          </a:p>
        </p:txBody>
      </p:sp>
      <p:sp>
        <p:nvSpPr>
          <p:cNvPr id="48" name="TextBox 47"/>
          <p:cNvSpPr txBox="1"/>
          <p:nvPr/>
        </p:nvSpPr>
        <p:spPr>
          <a:xfrm>
            <a:off x="548640" y="5266944"/>
            <a:ext cx="13533120" cy="356616"/>
          </a:xfrm>
          <a:prstGeom prst="rect">
            <a:avLst/>
          </a:prstGeom>
          <a:noFill/>
        </p:spPr>
        <p:txBody>
          <a:bodyPr wrap="square" lIns="0" rIns="0" tIns="0" bIns="0">
            <a:spAutoFit/>
          </a:bodyPr>
          <a:lstStyle/>
          <a:p>
            <a:pPr>
              <a:spcAft>
                <a:spcPts val="500"/>
              </a:spcAft>
              <a:defRPr sz="1943" b="1">
                <a:solidFill>
                  <a:srgbClr val="17344F"/>
                </a:solidFill>
                <a:latin typeface="Noto Sans CJK KR"/>
              </a:defRPr>
            </a:pPr>
            <a:r>
              <a:t>업무별로 연결되는 실제 운영 서비스</a:t>
            </a:r>
          </a:p>
        </p:txBody>
      </p:sp>
      <p:sp>
        <p:nvSpPr>
          <p:cNvPr id="49" name="Rounded Rectangle 48"/>
          <p:cNvSpPr/>
          <p:nvPr/>
        </p:nvSpPr>
        <p:spPr>
          <a:xfrm>
            <a:off x="548640" y="5751576"/>
            <a:ext cx="4334256" cy="16367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879592"/>
            <a:ext cx="3968496" cy="338328"/>
          </a:xfrm>
          <a:prstGeom prst="rect">
            <a:avLst/>
          </a:prstGeom>
          <a:noFill/>
        </p:spPr>
        <p:txBody>
          <a:bodyPr wrap="square" lIns="0" rIns="0" tIns="0" bIns="0">
            <a:spAutoFit/>
          </a:bodyPr>
          <a:lstStyle/>
          <a:p>
            <a:pPr>
              <a:spcAft>
                <a:spcPts val="500"/>
              </a:spcAft>
              <a:defRPr sz="1800" b="1">
                <a:solidFill>
                  <a:srgbClr val="17344F"/>
                </a:solidFill>
                <a:latin typeface="Noto Sans CJK KR"/>
              </a:defRPr>
            </a:pPr>
            <a:r>
              <a:t>법인카드 영수증 관리</a:t>
            </a:r>
          </a:p>
        </p:txBody>
      </p:sp>
      <p:sp>
        <p:nvSpPr>
          <p:cNvPr id="51" name="Rounded Rectangle 50"/>
          <p:cNvSpPr/>
          <p:nvPr/>
        </p:nvSpPr>
        <p:spPr>
          <a:xfrm>
            <a:off x="658368" y="6327648"/>
            <a:ext cx="4114800" cy="960120"/>
          </a:xfrm>
          <a:prstGeom prst="round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6384" y="6419088"/>
            <a:ext cx="3858768" cy="310896"/>
          </a:xfrm>
          <a:prstGeom prst="rect">
            <a:avLst/>
          </a:prstGeom>
          <a:noFill/>
        </p:spPr>
        <p:txBody>
          <a:bodyPr wrap="square" lIns="0" rIns="0" tIns="0" bIns="0">
            <a:spAutoFit/>
          </a:bodyPr>
          <a:lstStyle/>
          <a:p>
            <a:pPr>
              <a:spcAft>
                <a:spcPts val="500"/>
              </a:spcAft>
              <a:defRPr sz="1584" b="1">
                <a:solidFill>
                  <a:srgbClr val="FFFFFF"/>
                </a:solidFill>
                <a:latin typeface="Noto Sans CJK KR"/>
              </a:defRPr>
            </a:pPr>
            <a:r>
              <a:t>Vision·Vertex AI로 판독</a:t>
            </a:r>
          </a:p>
        </p:txBody>
      </p:sp>
      <p:sp>
        <p:nvSpPr>
          <p:cNvPr id="53" name="TextBox 52"/>
          <p:cNvSpPr txBox="1"/>
          <p:nvPr/>
        </p:nvSpPr>
        <p:spPr>
          <a:xfrm>
            <a:off x="786384" y="6821424"/>
            <a:ext cx="3858768" cy="457200"/>
          </a:xfrm>
          <a:prstGeom prst="rect">
            <a:avLst/>
          </a:prstGeom>
          <a:noFill/>
        </p:spPr>
        <p:txBody>
          <a:bodyPr wrap="square" lIns="0" rIns="0" tIns="0" bIns="0">
            <a:spAutoFit/>
          </a:bodyPr>
          <a:lstStyle/>
          <a:p>
            <a:pPr>
              <a:spcAft>
                <a:spcPts val="500"/>
              </a:spcAft>
              <a:defRPr sz="1296" b="0">
                <a:solidFill>
                  <a:srgbClr val="DCE8F1"/>
                </a:solidFill>
                <a:latin typeface="Noto Sans CJK KR"/>
              </a:defRPr>
            </a:pPr>
            <a:r>
              <a:t>Firestore: 내역 / Cloud Storage: 사진</a:t>
            </a:r>
          </a:p>
          <a:p>
            <a:pPr>
              <a:spcAft>
                <a:spcPts val="500"/>
              </a:spcAft>
              <a:defRPr sz="1296" b="0">
                <a:solidFill>
                  <a:srgbClr val="DCE8F1"/>
                </a:solidFill>
                <a:latin typeface="Noto Sans CJK KR"/>
              </a:defRPr>
            </a:pPr>
            <a:r>
              <a:t>Cloudflare: 화면·판독 API 제공</a:t>
            </a:r>
          </a:p>
        </p:txBody>
      </p:sp>
      <p:sp>
        <p:nvSpPr>
          <p:cNvPr id="54" name="Rounded Rectangle 53"/>
          <p:cNvSpPr/>
          <p:nvPr/>
        </p:nvSpPr>
        <p:spPr>
          <a:xfrm>
            <a:off x="5148072" y="5751576"/>
            <a:ext cx="4334256" cy="16367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30952" y="5879592"/>
            <a:ext cx="3968496" cy="338328"/>
          </a:xfrm>
          <a:prstGeom prst="rect">
            <a:avLst/>
          </a:prstGeom>
          <a:noFill/>
        </p:spPr>
        <p:txBody>
          <a:bodyPr wrap="square" lIns="0" rIns="0" tIns="0" bIns="0">
            <a:spAutoFit/>
          </a:bodyPr>
          <a:lstStyle/>
          <a:p>
            <a:pPr>
              <a:spcAft>
                <a:spcPts val="500"/>
              </a:spcAft>
              <a:defRPr sz="1800" b="1">
                <a:solidFill>
                  <a:srgbClr val="17344F"/>
                </a:solidFill>
                <a:latin typeface="Noto Sans CJK KR"/>
              </a:defRPr>
            </a:pPr>
            <a:r>
              <a:t>현장 출입 신청</a:t>
            </a:r>
          </a:p>
        </p:txBody>
      </p:sp>
      <p:sp>
        <p:nvSpPr>
          <p:cNvPr id="56" name="Rounded Rectangle 55"/>
          <p:cNvSpPr/>
          <p:nvPr/>
        </p:nvSpPr>
        <p:spPr>
          <a:xfrm>
            <a:off x="5257800" y="6327648"/>
            <a:ext cx="4114800" cy="960120"/>
          </a:xfrm>
          <a:prstGeom prst="round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85816" y="6419088"/>
            <a:ext cx="3858768" cy="310896"/>
          </a:xfrm>
          <a:prstGeom prst="rect">
            <a:avLst/>
          </a:prstGeom>
          <a:noFill/>
        </p:spPr>
        <p:txBody>
          <a:bodyPr wrap="square" lIns="0" rIns="0" tIns="0" bIns="0">
            <a:spAutoFit/>
          </a:bodyPr>
          <a:lstStyle/>
          <a:p>
            <a:pPr>
              <a:spcAft>
                <a:spcPts val="500"/>
              </a:spcAft>
              <a:defRPr sz="1584" b="1">
                <a:solidFill>
                  <a:srgbClr val="FFFFFF"/>
                </a:solidFill>
                <a:latin typeface="Noto Sans CJK KR"/>
              </a:defRPr>
            </a:pPr>
            <a:r>
              <a:t>Firebase Hosting으로 웹 제공</a:t>
            </a:r>
          </a:p>
        </p:txBody>
      </p:sp>
      <p:sp>
        <p:nvSpPr>
          <p:cNvPr id="58" name="TextBox 57"/>
          <p:cNvSpPr txBox="1"/>
          <p:nvPr/>
        </p:nvSpPr>
        <p:spPr>
          <a:xfrm>
            <a:off x="5385816" y="6821424"/>
            <a:ext cx="3858768" cy="457200"/>
          </a:xfrm>
          <a:prstGeom prst="rect">
            <a:avLst/>
          </a:prstGeom>
          <a:noFill/>
        </p:spPr>
        <p:txBody>
          <a:bodyPr wrap="square" lIns="0" rIns="0" tIns="0" bIns="0">
            <a:spAutoFit/>
          </a:bodyPr>
          <a:lstStyle/>
          <a:p>
            <a:pPr>
              <a:spcAft>
                <a:spcPts val="500"/>
              </a:spcAft>
              <a:defRPr sz="1296" b="0">
                <a:solidFill>
                  <a:srgbClr val="DCE8F1"/>
                </a:solidFill>
                <a:latin typeface="Noto Sans CJK KR"/>
              </a:defRPr>
            </a:pPr>
            <a:r>
              <a:t>출입 신청 웹 화면에 접속</a:t>
            </a:r>
          </a:p>
          <a:p>
            <a:pPr>
              <a:spcAft>
                <a:spcPts val="500"/>
              </a:spcAft>
              <a:defRPr sz="1296" b="0">
                <a:solidFill>
                  <a:srgbClr val="DCE8F1"/>
                </a:solidFill>
                <a:latin typeface="Noto Sans CJK KR"/>
              </a:defRPr>
            </a:pPr>
            <a:r>
              <a:t>내부 저장·알림 구성은 추가 확인 필요</a:t>
            </a:r>
          </a:p>
        </p:txBody>
      </p:sp>
      <p:sp>
        <p:nvSpPr>
          <p:cNvPr id="59" name="Rounded Rectangle 58"/>
          <p:cNvSpPr/>
          <p:nvPr/>
        </p:nvSpPr>
        <p:spPr>
          <a:xfrm>
            <a:off x="9747504" y="5751576"/>
            <a:ext cx="4334256" cy="16367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30384" y="5879592"/>
            <a:ext cx="3968496" cy="338328"/>
          </a:xfrm>
          <a:prstGeom prst="rect">
            <a:avLst/>
          </a:prstGeom>
          <a:noFill/>
        </p:spPr>
        <p:txBody>
          <a:bodyPr wrap="square" lIns="0" rIns="0" tIns="0" bIns="0">
            <a:spAutoFit/>
          </a:bodyPr>
          <a:lstStyle/>
          <a:p>
            <a:pPr>
              <a:spcAft>
                <a:spcPts val="500"/>
              </a:spcAft>
              <a:defRPr sz="1800" b="1">
                <a:solidFill>
                  <a:srgbClr val="17344F"/>
                </a:solidFill>
                <a:latin typeface="Noto Sans CJK KR"/>
              </a:defRPr>
            </a:pPr>
            <a:r>
              <a:t>식사 신청</a:t>
            </a:r>
          </a:p>
        </p:txBody>
      </p:sp>
      <p:sp>
        <p:nvSpPr>
          <p:cNvPr id="61" name="Rounded Rectangle 60"/>
          <p:cNvSpPr/>
          <p:nvPr/>
        </p:nvSpPr>
        <p:spPr>
          <a:xfrm>
            <a:off x="9857232" y="6327648"/>
            <a:ext cx="4114800" cy="960120"/>
          </a:xfrm>
          <a:prstGeom prst="roundRect">
            <a:avLst/>
          </a:prstGeom>
          <a:solidFill>
            <a:srgbClr val="17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985248" y="6419088"/>
            <a:ext cx="3858768" cy="310896"/>
          </a:xfrm>
          <a:prstGeom prst="rect">
            <a:avLst/>
          </a:prstGeom>
          <a:noFill/>
        </p:spPr>
        <p:txBody>
          <a:bodyPr wrap="square" lIns="0" rIns="0" tIns="0" bIns="0">
            <a:spAutoFit/>
          </a:bodyPr>
          <a:lstStyle/>
          <a:p>
            <a:pPr>
              <a:spcAft>
                <a:spcPts val="500"/>
              </a:spcAft>
              <a:defRPr sz="1584" b="1">
                <a:solidFill>
                  <a:srgbClr val="FFFFFF"/>
                </a:solidFill>
                <a:latin typeface="Noto Sans CJK KR"/>
              </a:defRPr>
            </a:pPr>
            <a:r>
              <a:t>Firestore 저장 + SOLAPI 문자</a:t>
            </a:r>
          </a:p>
        </p:txBody>
      </p:sp>
      <p:sp>
        <p:nvSpPr>
          <p:cNvPr id="63" name="TextBox 62"/>
          <p:cNvSpPr txBox="1"/>
          <p:nvPr/>
        </p:nvSpPr>
        <p:spPr>
          <a:xfrm>
            <a:off x="9985248" y="6821424"/>
            <a:ext cx="3858768" cy="457200"/>
          </a:xfrm>
          <a:prstGeom prst="rect">
            <a:avLst/>
          </a:prstGeom>
          <a:noFill/>
        </p:spPr>
        <p:txBody>
          <a:bodyPr wrap="square" lIns="0" rIns="0" tIns="0" bIns="0">
            <a:spAutoFit/>
          </a:bodyPr>
          <a:lstStyle/>
          <a:p>
            <a:pPr>
              <a:spcAft>
                <a:spcPts val="500"/>
              </a:spcAft>
              <a:defRPr sz="1296" b="0">
                <a:solidFill>
                  <a:srgbClr val="DCE8F1"/>
                </a:solidFill>
                <a:latin typeface="Noto Sans CJK KR"/>
              </a:defRPr>
            </a:pPr>
            <a:r>
              <a:t>GitHub Pages: 화면 / Cloudflare: 서버</a:t>
            </a:r>
          </a:p>
          <a:p>
            <a:pPr>
              <a:spcAft>
                <a:spcPts val="500"/>
              </a:spcAft>
              <a:defRPr sz="1296" b="0">
                <a:solidFill>
                  <a:srgbClr val="DCE8F1"/>
                </a:solidFill>
                <a:latin typeface="Noto Sans CJK KR"/>
              </a:defRPr>
            </a:pPr>
            <a:r>
              <a:t>관리자가 집계 확인 후 문자 발송</a:t>
            </a:r>
          </a:p>
        </p:txBody>
      </p:sp>
      <p:sp>
        <p:nvSpPr>
          <p:cNvPr id="64" name="TextBox 63"/>
          <p:cNvSpPr txBox="1"/>
          <p:nvPr/>
        </p:nvSpPr>
        <p:spPr>
          <a:xfrm>
            <a:off x="548640" y="7589520"/>
            <a:ext cx="13533120" cy="265176"/>
          </a:xfrm>
          <a:prstGeom prst="rect">
            <a:avLst/>
          </a:prstGeom>
          <a:noFill/>
        </p:spPr>
        <p:txBody>
          <a:bodyPr wrap="square" lIns="0" rIns="0" tIns="0" bIns="0">
            <a:spAutoFit/>
          </a:bodyPr>
          <a:lstStyle/>
          <a:p>
            <a:pPr>
              <a:spcAft>
                <a:spcPts val="500"/>
              </a:spcAft>
              <a:defRPr sz="1296" b="0">
                <a:solidFill>
                  <a:srgbClr val="526C83"/>
                </a:solidFill>
                <a:latin typeface="Noto Sans CJK KR"/>
              </a:defRPr>
            </a:pPr>
            <a:r>
              <a:t>OpenAI의 ChatGPT·Codex는 기획·개발에 활용하고, 영수증 AI 판독은 Google Cloud의 Vision·Vertex AI가 담당합니다.</a:t>
            </a:r>
          </a:p>
        </p:txBody>
      </p:sp>
      <p:sp>
        <p:nvSpPr>
          <p:cNvPr id="65" name="TextBox 64"/>
          <p:cNvSpPr txBox="1"/>
          <p:nvPr/>
        </p:nvSpPr>
        <p:spPr>
          <a:xfrm>
            <a:off x="548640" y="7936992"/>
            <a:ext cx="13030200" cy="219456"/>
          </a:xfrm>
          <a:prstGeom prst="rect">
            <a:avLst/>
          </a:prstGeom>
          <a:noFill/>
        </p:spPr>
        <p:txBody>
          <a:bodyPr wrap="square" lIns="0" rIns="0" tIns="0" bIns="0">
            <a:spAutoFit/>
          </a:bodyPr>
          <a:lstStyle/>
          <a:p>
            <a:pPr>
              <a:spcAft>
                <a:spcPts val="500"/>
              </a:spcAft>
              <a:defRPr sz="1008" b="0">
                <a:solidFill>
                  <a:srgbClr val="526C83"/>
                </a:solidFill>
                <a:latin typeface="Noto Sans CJK KR"/>
              </a:defRPr>
            </a:pPr>
            <a:r>
              <a:t>현재 소스 기준의 구성 요약 · 서비스 연동 성공/배포 상태를 이번 자료 작성에서 재검증한 것은 아닙니다.</a:t>
            </a:r>
          </a:p>
        </p:txBody>
      </p:sp>
      <p:sp>
        <p:nvSpPr>
          <p:cNvPr id="66" name="TextBox 65"/>
          <p:cNvSpPr txBox="1"/>
          <p:nvPr/>
        </p:nvSpPr>
        <p:spPr>
          <a:xfrm>
            <a:off x="13624560" y="7891272"/>
            <a:ext cx="457200" cy="265176"/>
          </a:xfrm>
          <a:prstGeom prst="rect">
            <a:avLst/>
          </a:prstGeom>
          <a:noFill/>
        </p:spPr>
        <p:txBody>
          <a:bodyPr wrap="square" lIns="0" rIns="0" tIns="0" bIns="0">
            <a:spAutoFit/>
          </a:bodyPr>
          <a:lstStyle/>
          <a:p>
            <a:pPr>
              <a:spcAft>
                <a:spcPts val="500"/>
              </a:spcAft>
              <a:defRPr sz="1439" b="1">
                <a:solidFill>
                  <a:srgbClr val="008F99"/>
                </a:solidFill>
                <a:latin typeface="Noto Sans CJK KR"/>
              </a:defRPr>
            </a:pPr>
            <a:r>
              <a: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