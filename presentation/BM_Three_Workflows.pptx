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첨부한 해당 흐름도의 내용을 기준으로 문장을 정리해 동일 규격의 3단 흐름으로 재구성했습니다. 글꼴은 Noto Sans CJK KR 한 종류이며 역할별 제목/본문 크기를 통일했습니다. 같은 단계의 모든 상자는 같은 위치·크기·간격·색상을 사용합니다. 상태와 전표 O/X 관리가 별도임을 유지했습니다. 영수증은 사진 업로드/판독과 최종등록을 구분하며 GCS와 Vision/Vertex의 역할을 분리했습니다. 식사 문자 수동 발송 및 자동 발송 향후 계획은 사용자 원문을 유지했습니다. 출입 내부 데이터·메일 흐름은 이번에 사용자가 제공한 장표를 근거로 표현했으며 라이브 서비스를 재검증한 것은 아닙니다. 메일 앱 실제 발송 후 사이트에서 완료 기록을 선택하는 순서를 보존했습니다.</a:t>
            </a:r>
          </a:p>
          <a:p>
            <a:r>
              <a:t>원문 세부 내용은 첨부 이미지 기준이며 코드·운영 사이트·배포는 변경하지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첨부한 해당 흐름도의 내용을 기준으로 문장을 정리해 동일 규격의 3단 흐름으로 재구성했습니다. 글꼴은 Noto Sans CJK KR 한 종류이며 역할별 제목/본문 크기를 통일했습니다. 같은 단계의 모든 상자는 같은 위치·크기·간격·색상을 사용합니다. 상태와 전표 O/X 관리가 별도임을 유지했습니다. 영수증은 사진 업로드/판독과 최종등록을 구분하며 GCS와 Vision/Vertex의 역할을 분리했습니다. 식사 문자 수동 발송 및 자동 발송 향후 계획은 사용자 원문을 유지했습니다. 출입 내부 데이터·메일 흐름은 이번에 사용자가 제공한 장표를 근거로 표현했으며 라이브 서비스를 재검증한 것은 아닙니다. 메일 앱 실제 발송 후 사이트에서 완료 기록을 선택하는 순서를 보존했습니다.</a:t>
            </a:r>
          </a:p>
          <a:p>
            <a:r>
              <a:t>원문 세부 내용은 첨부 이미지 기준이며 코드·운영 사이트·배포는 변경하지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첨부한 해당 흐름도의 내용을 기준으로 문장을 정리해 동일 규격의 3단 흐름으로 재구성했습니다. 글꼴은 Noto Sans CJK KR 한 종류이며 역할별 제목/본문 크기를 통일했습니다. 같은 단계의 모든 상자는 같은 위치·크기·간격·색상을 사용합니다. 상태와 전표 O/X 관리가 별도임을 유지했습니다. 영수증은 사진 업로드/판독과 최종등록을 구분하며 GCS와 Vision/Vertex의 역할을 분리했습니다. 식사 문자 수동 발송 및 자동 발송 향후 계획은 사용자 원문을 유지했습니다. 출입 내부 데이터·메일 흐름은 이번에 사용자가 제공한 장표를 근거로 표현했으며 라이브 서비스를 재검증한 것은 아닙니다. 메일 앱 실제 발송 후 사이트에서 완료 기록을 선택하는 순서를 보존했습니다.</a:t>
            </a:r>
          </a:p>
          <a:p>
            <a:r>
              <a:t>원문 세부 내용은 첨부 이미지 기준이며 코드·운영 사이트·배포는 변경하지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280160"/>
          </a:xfrm>
          <a:prstGeom prst="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353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1">
                <a:solidFill>
                  <a:srgbClr val="ACC7DB"/>
                </a:solidFill>
                <a:latin typeface="Noto Sans CJK KR"/>
              </a:defRPr>
            </a:pPr>
            <a:r>
              <a:t>중부·강원 BM 지역협의체  |  BM 워크샵 해커톤 — BM 업무 효율화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36" b="1">
                <a:solidFill>
                  <a:srgbClr val="FFFFFF"/>
                </a:solidFill>
                <a:latin typeface="Noto Sans CJK KR"/>
              </a:defRPr>
            </a:pPr>
            <a:r>
              <a:t>법인카드 영수증 관리 웹페이지 흐름도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3533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526C83"/>
                </a:solidFill>
                <a:latin typeface="Noto Sans CJK KR"/>
              </a:defRPr>
            </a:pPr>
            <a:r>
              <a:t>사진 등록 → AI 판독·저장 → 관리자 검토·전표 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1  |  개별 직원 · 등록·확인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영수증 사진 첨부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영수증 촬영 또는 사진 업로드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사진 첨부 시 OCR 자동 인식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사진 없이 직접 입력도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내용 확인 및 보완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업체명·금액·일자·사용자 확인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참석 인원·사용 목적·장소 보완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입력 내용을 확인한 후 최종 등록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8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등록 완료 및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저장 확인 후 등록 완료 안내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본인 사용 내역 조회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처리 상태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4489704"/>
            <a:ext cx="2834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526C83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93792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2  |  시스템 · 사진·AI·내역 저장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3792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49240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76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사진 원본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Google Cloud Storage에 사진 저장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사진 원본을 내역과 연결해 보관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사진 업로드와 최종 등록은 별도 처리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93792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49240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AI 판독 및 항목 추출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8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Cloud Vision으로 글자 인식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Vertex AI로 주요 항목 분류·추출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사용자가 원본을 보며 확인·보완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93792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49240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22392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1576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Firestore 내역 저장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7528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사용 내역·처리 상태 저장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사진 객체 키·파일명 연결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저장 실패 시 재시도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616" y="4489704"/>
            <a:ext cx="2834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526C83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38944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03536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3  |  관리자 · 조회·처리·출력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38944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94392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67544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6728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내역 조회 및 사진 검토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기간·사용자·상태별 내역 검색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첨부 사진 및 상세 내역 확인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94392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67544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96728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처리 상태 변경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확인필요 → 미처리 → 처리완료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필요 시 내용 보완·수정·삭제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38944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94392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67544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96728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전표 관리 및 자료 다운로드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전표 처리 O/X 관리: 상태와 별도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검색 결과 CSV 다운로드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선택 사진 ZIP 다운로드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7690104"/>
            <a:ext cx="13533120" cy="9144"/>
          </a:xfrm>
          <a:prstGeom prst="rect">
            <a:avLst/>
          </a:prstGeom>
          <a:solidFill>
            <a:srgbClr val="CC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7818120"/>
            <a:ext cx="127741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526C83"/>
                </a:solidFill>
                <a:latin typeface="Noto Sans CJK KR"/>
              </a:defRPr>
            </a:pPr>
            <a:r>
              <a:t>사진 첨부 시 업로드·AI 판독이 먼저 실행되며, 사용자가 확인한 뒤 최종 등록합니다.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624560" y="777240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008F99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280160"/>
          </a:xfrm>
          <a:prstGeom prst="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353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1">
                <a:solidFill>
                  <a:srgbClr val="ACC7DB"/>
                </a:solidFill>
                <a:latin typeface="Noto Sans CJK KR"/>
              </a:defRPr>
            </a:pPr>
            <a:r>
              <a:t>중부·강원 BM 지역협의체  |  BM 워크샵 해커톤 — BM 업무 효율화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36" b="1">
                <a:solidFill>
                  <a:srgbClr val="FFFFFF"/>
                </a:solidFill>
                <a:latin typeface="Noto Sans CJK KR"/>
              </a:defRPr>
            </a:pPr>
            <a:r>
              <a:t>식사 신청 관리 웹페이지 흐름도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3533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526C83"/>
                </a:solidFill>
                <a:latin typeface="Noto Sans CJK KR"/>
              </a:defRPr>
            </a:pPr>
            <a:r>
              <a:t>직접 신청 → 검증·공유 저장 → 식수 집계·문자 발송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1  |  개별 직원 · 식사 신청·변경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신청자 정보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GS직원: 사번·이름 입력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협력사/발주처: 회사·이름·연락처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선택 시 이 기기에 기본정보 기억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식사 선택 및 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주간 조식·중식·석식 메뉴 선택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중식 장소: 사무실 / OSBL / ISBL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신청 내역을 최종 확인한 후 제출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8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신청 완료 및 변경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서버 저장 확인 후 완료 안내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기존 신청 내역 불러오기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마감 전 수정·취소 후 다시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4489704"/>
            <a:ext cx="2834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526C83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93792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2  |  시스템 · 검증·저장·안내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3792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49240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76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신청 내용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신청자 정보·메뉴·장소 검증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식사별 신청 마감시간 확인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저장 직전 마감 여부 다시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93792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49240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Firebase Firestore 저장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8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신청자·날짜·식사별 내역 저장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동일 신청 변경 시 내용 갱신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여러 기기에서 신청 데이터 공유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93792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49240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22392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1576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저장 결과 안내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7528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저장 성공 시 신청 완료 표시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실패 시 오류 안내 메시지 표시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입력한 변경사항은 화면에 유지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616" y="4489704"/>
            <a:ext cx="2834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526C83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38944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03536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3  |  관리자 · 조회·집계·관리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38944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94392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67544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6728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로그인 및 신청 조회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관리자 비밀번호로 로그인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일별·월별·신청자 구분별 조회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사번·이름·회사명으로 상세 검색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94392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67544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96728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수량 및 금액 집계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식사·메뉴·장소·구분별 자동 집계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총수량·총금액·날짜별 합계 확인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‘신청 안 함’은 주문 집계에서 제외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38944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94392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67544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96728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내역 관리 및 문자 발송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개별·선택 삭제: 확인 절차 후 실행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신청 내역 CSV 다운로드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중식 1차·최종 집계 문자 수동 발송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7690104"/>
            <a:ext cx="13533120" cy="9144"/>
          </a:xfrm>
          <a:prstGeom prst="rect">
            <a:avLst/>
          </a:prstGeom>
          <a:solidFill>
            <a:srgbClr val="CC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7818120"/>
            <a:ext cx="127741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526C83"/>
                </a:solidFill>
                <a:latin typeface="Noto Sans CJK KR"/>
              </a:defRPr>
            </a:pPr>
            <a:r>
              <a:t>문자는 관리자 확인 후 수동 발송합니다. 자동 문자 발송은 향후 구현 예정입니다.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624560" y="777240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008F99"/>
                </a:solidFill>
                <a:latin typeface="Noto Sans CJK K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280160"/>
          </a:xfrm>
          <a:prstGeom prst="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353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1">
                <a:solidFill>
                  <a:srgbClr val="ACC7DB"/>
                </a:solidFill>
                <a:latin typeface="Noto Sans CJK KR"/>
              </a:defRPr>
            </a:pPr>
            <a:r>
              <a:t>중부·강원 BM 지역협의체  |  BM 워크샵 해커톤 — BM 업무 효율화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736" b="1">
                <a:solidFill>
                  <a:srgbClr val="FFFFFF"/>
                </a:solidFill>
                <a:latin typeface="Noto Sans CJK KR"/>
              </a:defRPr>
            </a:pPr>
            <a:r>
              <a:t>출입 신청 관리 웹페이지 흐름도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90472"/>
            <a:ext cx="135331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0">
                <a:solidFill>
                  <a:srgbClr val="526C83"/>
                </a:solidFill>
                <a:latin typeface="Noto Sans CJK KR"/>
              </a:defRPr>
            </a:pPr>
            <a:r>
              <a:t>방문·출입 신청 → 검증·저장 → 관리자 확인·발주처 제출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1  |  직원·신청자 · 출입 신청·조회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작성자·방문자 정보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로그인 없이 접속, 작성자 이름 입력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방문자 이름·생년월일·연락처 입력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방문기간·목적·요청팀·출입위치 입력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4088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출입 정보 입력 및 신청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차량번호·차종·차명·탑승 구분 입력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안전화 필요 여부·사이즈 선택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최대 10명까지 추가 후 ‘신청하기’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8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신청 완료 및 내역 조회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저장 성공 후 ‘승인 대기’ 표시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상태·방문일·검색어로 내역 조회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같은 브라우저에서 본인 수정·삭제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최초 작성자명 일치·전달 전 조건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4489704"/>
            <a:ext cx="2834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526C83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93792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2  |  시스템 · 검증·저장·갱신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93792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49240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2392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1576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신청 입력값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필수 항목 누락·입력 형식 검증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날짜·방문기간·휴대전화 확인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오류 입력칸 표시 및 수정 안내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오류가 있으면 저장하지 않음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93792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49240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51576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Firebase Firestore 저장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67528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방문자별 신청 원본 저장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개인정보 제외 공개 요약 함께 저장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브라우저용 본인 사본 함께 저장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승인 대기 상태·서버 등록시간 기록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93792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349240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22392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1576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저장 결과 및 목록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7528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성공 시 완료 안내 및 목록 반영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실패 시 오류 안내·입력 내용 유지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신청 목록은 30초마다 자동 갱신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616" y="4489704"/>
            <a:ext cx="2834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88" b="1">
                <a:solidFill>
                  <a:srgbClr val="526C83"/>
                </a:solidFill>
                <a:latin typeface="Noto Sans CJK KR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38944" y="1993392"/>
            <a:ext cx="4242816" cy="493776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03536" y="2093976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84" b="1">
                <a:solidFill>
                  <a:srgbClr val="FFFFFF"/>
                </a:solidFill>
                <a:latin typeface="Noto Sans CJK KR"/>
              </a:defRPr>
            </a:pPr>
            <a:r>
              <a:t>STEP 3  |  관리자 · 조회·발주처 제출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38944" y="2670048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994392" y="2825496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67544" y="283464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6728" y="2807208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관리자 로그인 및 신청 조회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3227832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비밀번호 로그인·관리자 권한 확인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전체 신청 내역·개인정보 조회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상태·방문일·검색어로 대상 조회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4325112"/>
            <a:ext cx="424281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94392" y="4480560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67544" y="44897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96728" y="4462272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183449"/>
                </a:solidFill>
                <a:latin typeface="Noto Sans CJK KR"/>
              </a:defRPr>
            </a:pPr>
            <a:r>
              <a:t>내역 관리 및 제출 준비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4882896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처리자 이름 입력·신청 수정/삭제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CSV 다운로드·제출 대상 최대 10명</a:t>
            </a:r>
          </a:p>
          <a:p>
            <a:pPr>
              <a:spcAft>
                <a:spcPts val="500"/>
              </a:spcAft>
              <a:defRPr sz="1296" b="0">
                <a:solidFill>
                  <a:srgbClr val="526C83"/>
                </a:solidFill>
                <a:latin typeface="Noto Sans CJK KR"/>
              </a:defRPr>
            </a:pPr>
            <a:r>
              <a:t>• ‘발주처 제출’ 후 수신자·본문 확인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38944" y="5980176"/>
            <a:ext cx="4242816" cy="1508760"/>
          </a:xfrm>
          <a:prstGeom prst="roundRect">
            <a:avLst/>
          </a:prstGeom>
          <a:solidFill>
            <a:srgbClr val="17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94392" y="6135624"/>
            <a:ext cx="292608" cy="292608"/>
          </a:xfrm>
          <a:prstGeom prst="roundRect">
            <a:avLst/>
          </a:prstGeom>
          <a:solidFill>
            <a:srgbClr val="DD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67544" y="614476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68" b="1">
                <a:solidFill>
                  <a:srgbClr val="17344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96728" y="6117336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FFFF"/>
                </a:solidFill>
                <a:latin typeface="Noto Sans CJK KR"/>
              </a:defRPr>
            </a:pPr>
            <a:r>
              <a:t>메일 발송 및 완료 기록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12680" y="6537960"/>
            <a:ext cx="389534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‘메일 앱 열기’로 기기 메일 앱 실행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관리자가 메일 앱에서 실제 발송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사이트로 돌아와 완료 기록 선택</a:t>
            </a:r>
          </a:p>
          <a:p>
            <a:pPr>
              <a:spcAft>
                <a:spcPts val="500"/>
              </a:spcAft>
              <a:defRPr sz="1296" b="0">
                <a:solidFill>
                  <a:srgbClr val="DCE8F1"/>
                </a:solidFill>
                <a:latin typeface="Noto Sans CJK KR"/>
              </a:defRPr>
            </a:pPr>
            <a:r>
              <a:t>• ‘전송/처리완료로 기록’ 후 종료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7690104"/>
            <a:ext cx="13533120" cy="9144"/>
          </a:xfrm>
          <a:prstGeom prst="rect">
            <a:avLst/>
          </a:prstGeom>
          <a:solidFill>
            <a:srgbClr val="CC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7818120"/>
            <a:ext cx="1277416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526C83"/>
                </a:solidFill>
                <a:latin typeface="Noto Sans CJK KR"/>
              </a:defRPr>
            </a:pPr>
            <a:r>
              <a:t>메일 앱 열기는 실제 발송 완료가 아닙니다. 메일을 발송한 뒤 사이트에서 완료 기록을 남깁니다.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624560" y="777240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008F99"/>
                </a:solidFill>
                <a:latin typeface="Noto Sans CJK K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