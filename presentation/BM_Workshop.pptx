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오프닝: AI 도입 자체가 목적이 아닙니다. 반복 입력, 재확인, 취합에 드는 시간을 줄이고 BM의 판단 업무에 시간을 돌리는 것이 목적입니다. 이번에는 실제 구현한 법인카드 영수증 관리 시스템을 결과물로 제시합니다. 정량적 절감시간은 아직 측정하지 않았으며 효과를 실증할 계획입니다.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문제와 개선효과를 좌우로 연결해 설명합니다. AI는 사용자나 사용 목적을 추정하지 않습니다. 영수증 기본정보를 보조 입력하고 직원이 원본을 확인하며 사용정보를 보완합니다. 사진 등록이 종이 원본 보관 의무를 대체한다는 뜻은 아닙니다. 카드번호나 소유주 자동 인식은 확인된 핵심 자동입력 항목으로 제시하지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 설명: 촬영 직후 사진은 GCS에 업로드되고, Vision→Vertex로 판독한 값을 화면에 채웁니다. 직원이 원본을 대조하고 필수정보를 보완한 다음 최종 확인·등록합니다. 최종 등록 시 사진 파일명은 업체명_금액_일자로 정리되며 Firestore에는 파일명·객체 키와 입력 내역을 저장합니다. 읽지 못한 값은 직접 확인해 입력합니다. 현재 앱은 모든 등록 건에 사용자·인원·목적·장소를 필수로 요청하므로 첨부 지침의 최소 요구보다 넓게 적용합니다. 지침 제외대상은 출장정산·유형자산 등 별도 시스템에서 사용목적이 확인되는 처리 건입니다. 현재 관리자 공용 비밀번호는 README상 테스트용 화면 잠금이며 서버 인증을 대신하지 않습니다. Firestore 규칙과 인증 기반 권한 분리를 실운영 전 점검해야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인터넷 접속주소: https://receipt.sskim4912.workers.dev/ QR도 동일 주소입니다. 영수증 저장소 4f51c0ad 소스/동봉 빌드의 실제 UI를 로컬 실행하고 가상 데이터를 넣어 캡처했습니다. 운영 사이트는 작업 환경에서 HTTP 403으로 접근되지 않았습니다. 화면은 목업 디자인이 아니라 프로그램 UI지만 실서비스 통신·OCR·저장 성공을 검증한 자료는 아닙니다. 입력 예시는 홍길동, 워크샵식당, 120000원, 참석 4명, BM 워크샵 업무 협의 후 식대입니다. 필수입력 자동완성 캡처는 가상 수기 값이며 라이브 AI 실행 결과로 표현하지 마세요. 촬영 시연은 비민감 샘플 영수증 사용을 권장합니다. 운영 화면과 메뉴명이 달라지면 발표 전 실기기에서 재확인하세요.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4.xml"/><Relationship Id="rId7" Type="http://schemas.openxmlformats.org/officeDocument/2006/relationships/hyperlink" Target="https://receipt.sskim4912.workers.dev/"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01  /  WHY · 추진 배경</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AI Cloud 기반 BM 업무 효율화</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반복 확인과 월말 취합을 줄이고, BM이 판단해야 할 중요한 업무에 집중합니다.</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01 / 04</a:t>
            </a:r>
          </a:p>
        </p:txBody>
      </p:sp>
      <p:sp>
        <p:nvSpPr>
          <p:cNvPr id="9" name="Rounded Rectangle 8"/>
          <p:cNvSpPr/>
          <p:nvPr/>
        </p:nvSpPr>
        <p:spPr>
          <a:xfrm>
            <a:off x="585216" y="2231136"/>
            <a:ext cx="8869680" cy="3090672"/>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523744"/>
            <a:ext cx="7863840" cy="320040"/>
          </a:xfrm>
          <a:prstGeom prst="rect">
            <a:avLst/>
          </a:prstGeom>
          <a:noFill/>
        </p:spPr>
        <p:txBody>
          <a:bodyPr wrap="square" lIns="0" rIns="0" tIns="0" bIns="0">
            <a:spAutoFit/>
          </a:bodyPr>
          <a:lstStyle/>
          <a:p>
            <a:pPr>
              <a:spcAft>
                <a:spcPts val="500"/>
              </a:spcAft>
              <a:defRPr sz="1655" b="1">
                <a:solidFill>
                  <a:srgbClr val="69D6D6"/>
                </a:solidFill>
                <a:latin typeface="Noto Sans CJK KR"/>
              </a:defRPr>
            </a:pPr>
            <a:r>
              <a:t>이번 해커톤의 결과물</a:t>
            </a:r>
          </a:p>
        </p:txBody>
      </p:sp>
      <p:sp>
        <p:nvSpPr>
          <p:cNvPr id="11" name="TextBox 10"/>
          <p:cNvSpPr txBox="1"/>
          <p:nvPr/>
        </p:nvSpPr>
        <p:spPr>
          <a:xfrm>
            <a:off x="932688" y="3090672"/>
            <a:ext cx="7863840" cy="1188720"/>
          </a:xfrm>
          <a:prstGeom prst="rect">
            <a:avLst/>
          </a:prstGeom>
          <a:noFill/>
        </p:spPr>
        <p:txBody>
          <a:bodyPr wrap="square" lIns="0" rIns="0" tIns="0" bIns="0">
            <a:spAutoFit/>
          </a:bodyPr>
          <a:lstStyle/>
          <a:p>
            <a:pPr>
              <a:spcAft>
                <a:spcPts val="500"/>
              </a:spcAft>
              <a:defRPr sz="3528" b="1">
                <a:solidFill>
                  <a:srgbClr val="FFFFFF"/>
                </a:solidFill>
                <a:latin typeface="Noto Sans CJK KR"/>
              </a:defRPr>
            </a:pPr>
            <a:r>
              <a:t>영수증 한 장을</a:t>
            </a:r>
          </a:p>
          <a:p>
            <a:pPr>
              <a:spcAft>
                <a:spcPts val="500"/>
              </a:spcAft>
              <a:defRPr sz="3528" b="1">
                <a:solidFill>
                  <a:srgbClr val="FFFFFF"/>
                </a:solidFill>
                <a:latin typeface="Noto Sans CJK KR"/>
              </a:defRPr>
            </a:pPr>
            <a:r>
              <a:t>관리 가능한 업무 데이터로</a:t>
            </a:r>
          </a:p>
        </p:txBody>
      </p:sp>
      <p:sp>
        <p:nvSpPr>
          <p:cNvPr id="12" name="TextBox 11"/>
          <p:cNvSpPr txBox="1"/>
          <p:nvPr/>
        </p:nvSpPr>
        <p:spPr>
          <a:xfrm>
            <a:off x="932688" y="4572000"/>
            <a:ext cx="7863840" cy="457200"/>
          </a:xfrm>
          <a:prstGeom prst="rect">
            <a:avLst/>
          </a:prstGeom>
          <a:noFill/>
        </p:spPr>
        <p:txBody>
          <a:bodyPr wrap="square" lIns="0" rIns="0" tIns="0" bIns="0">
            <a:spAutoFit/>
          </a:bodyPr>
          <a:lstStyle/>
          <a:p>
            <a:pPr>
              <a:spcAft>
                <a:spcPts val="500"/>
              </a:spcAft>
              <a:defRPr sz="1872" b="0">
                <a:solidFill>
                  <a:srgbClr val="FFFFFF"/>
                </a:solidFill>
                <a:latin typeface="Noto Sans CJK KR"/>
              </a:defRPr>
            </a:pPr>
            <a:r>
              <a:t>촬영 → AI 판독 → 필수정보 확인 → 저장 → 관리자 처리</a:t>
            </a:r>
          </a:p>
        </p:txBody>
      </p:sp>
      <p:sp>
        <p:nvSpPr>
          <p:cNvPr id="13" name="Rounded Rectangle 12"/>
          <p:cNvSpPr/>
          <p:nvPr/>
        </p:nvSpPr>
        <p:spPr>
          <a:xfrm>
            <a:off x="9692640" y="2231136"/>
            <a:ext cx="4352544" cy="3090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85248" y="2523744"/>
            <a:ext cx="3730752" cy="365760"/>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없애고 싶은 시간 낭비</a:t>
            </a:r>
          </a:p>
        </p:txBody>
      </p:sp>
      <p:sp>
        <p:nvSpPr>
          <p:cNvPr id="15" name="TextBox 14"/>
          <p:cNvSpPr txBox="1"/>
          <p:nvPr/>
        </p:nvSpPr>
        <p:spPr>
          <a:xfrm>
            <a:off x="9985248" y="3127248"/>
            <a:ext cx="3730752"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반복 입력</a:t>
            </a:r>
          </a:p>
        </p:txBody>
      </p:sp>
      <p:sp>
        <p:nvSpPr>
          <p:cNvPr id="16" name="TextBox 15"/>
          <p:cNvSpPr txBox="1"/>
          <p:nvPr/>
        </p:nvSpPr>
        <p:spPr>
          <a:xfrm>
            <a:off x="9985248" y="3447288"/>
            <a:ext cx="3730752" cy="3200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영수증 정보를 다시 옮겨 적기</a:t>
            </a:r>
          </a:p>
        </p:txBody>
      </p:sp>
      <p:sp>
        <p:nvSpPr>
          <p:cNvPr id="17" name="TextBox 16"/>
          <p:cNvSpPr txBox="1"/>
          <p:nvPr/>
        </p:nvSpPr>
        <p:spPr>
          <a:xfrm>
            <a:off x="9985248" y="3840480"/>
            <a:ext cx="3730752"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수정 후 재확인</a:t>
            </a:r>
          </a:p>
        </p:txBody>
      </p:sp>
      <p:sp>
        <p:nvSpPr>
          <p:cNvPr id="18" name="TextBox 17"/>
          <p:cNvSpPr txBox="1"/>
          <p:nvPr/>
        </p:nvSpPr>
        <p:spPr>
          <a:xfrm>
            <a:off x="9985248" y="4160520"/>
            <a:ext cx="3730752" cy="3200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누가·왜 사용했는지 전화로 확인</a:t>
            </a:r>
          </a:p>
        </p:txBody>
      </p:sp>
      <p:sp>
        <p:nvSpPr>
          <p:cNvPr id="19" name="TextBox 18"/>
          <p:cNvSpPr txBox="1"/>
          <p:nvPr/>
        </p:nvSpPr>
        <p:spPr>
          <a:xfrm>
            <a:off x="9985248" y="4553712"/>
            <a:ext cx="3730752" cy="310896"/>
          </a:xfrm>
          <a:prstGeom prst="rect">
            <a:avLst/>
          </a:prstGeom>
          <a:noFill/>
        </p:spPr>
        <p:txBody>
          <a:bodyPr wrap="square" lIns="0" rIns="0" tIns="0" bIns="0">
            <a:spAutoFit/>
          </a:bodyPr>
          <a:lstStyle/>
          <a:p>
            <a:pPr>
              <a:spcAft>
                <a:spcPts val="500"/>
              </a:spcAft>
              <a:defRPr sz="1728" b="1">
                <a:solidFill>
                  <a:srgbClr val="008F99"/>
                </a:solidFill>
                <a:latin typeface="Noto Sans CJK KR"/>
              </a:defRPr>
            </a:pPr>
            <a:r>
              <a:t>취합·송부</a:t>
            </a:r>
          </a:p>
        </p:txBody>
      </p:sp>
      <p:sp>
        <p:nvSpPr>
          <p:cNvPr id="20" name="TextBox 19"/>
          <p:cNvSpPr txBox="1"/>
          <p:nvPr/>
        </p:nvSpPr>
        <p:spPr>
          <a:xfrm>
            <a:off x="9985248" y="4873752"/>
            <a:ext cx="3730752" cy="32004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사진과 내역을 따로 모아 전달</a:t>
            </a:r>
          </a:p>
        </p:txBody>
      </p:sp>
      <p:sp>
        <p:nvSpPr>
          <p:cNvPr id="21" name="Rounded Rectangle 20"/>
          <p:cNvSpPr/>
          <p:nvPr/>
        </p:nvSpPr>
        <p:spPr>
          <a:xfrm>
            <a:off x="585216" y="5596128"/>
            <a:ext cx="4297680" cy="16824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5779008"/>
            <a:ext cx="594360"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01</a:t>
            </a:r>
          </a:p>
        </p:txBody>
      </p:sp>
      <p:sp>
        <p:nvSpPr>
          <p:cNvPr id="23" name="TextBox 22"/>
          <p:cNvSpPr txBox="1"/>
          <p:nvPr/>
        </p:nvSpPr>
        <p:spPr>
          <a:xfrm>
            <a:off x="804672" y="6217920"/>
            <a:ext cx="3840480" cy="365760"/>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직원은 한 번에 기록</a:t>
            </a:r>
          </a:p>
        </p:txBody>
      </p:sp>
      <p:sp>
        <p:nvSpPr>
          <p:cNvPr id="24" name="TextBox 23"/>
          <p:cNvSpPr txBox="1"/>
          <p:nvPr/>
        </p:nvSpPr>
        <p:spPr>
          <a:xfrm>
            <a:off x="804672" y="6675120"/>
            <a:ext cx="3840480" cy="41148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 직후 사진과 사용 사유 입력</a:t>
            </a:r>
          </a:p>
        </p:txBody>
      </p:sp>
      <p:sp>
        <p:nvSpPr>
          <p:cNvPr id="25" name="Rounded Rectangle 24"/>
          <p:cNvSpPr/>
          <p:nvPr/>
        </p:nvSpPr>
        <p:spPr>
          <a:xfrm>
            <a:off x="5166360" y="5596128"/>
            <a:ext cx="4297680" cy="16824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85816" y="5779008"/>
            <a:ext cx="594360"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02</a:t>
            </a:r>
          </a:p>
        </p:txBody>
      </p:sp>
      <p:sp>
        <p:nvSpPr>
          <p:cNvPr id="27" name="TextBox 26"/>
          <p:cNvSpPr txBox="1"/>
          <p:nvPr/>
        </p:nvSpPr>
        <p:spPr>
          <a:xfrm>
            <a:off x="5385816" y="6217920"/>
            <a:ext cx="3840480" cy="365760"/>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관리팀은 모아서 확인</a:t>
            </a:r>
          </a:p>
        </p:txBody>
      </p:sp>
      <p:sp>
        <p:nvSpPr>
          <p:cNvPr id="28" name="TextBox 27"/>
          <p:cNvSpPr txBox="1"/>
          <p:nvPr/>
        </p:nvSpPr>
        <p:spPr>
          <a:xfrm>
            <a:off x="5385816" y="6675120"/>
            <a:ext cx="3840480" cy="41148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원본·내역·처리상태를 한 화면에서</a:t>
            </a:r>
          </a:p>
        </p:txBody>
      </p:sp>
      <p:sp>
        <p:nvSpPr>
          <p:cNvPr id="29" name="Rounded Rectangle 28"/>
          <p:cNvSpPr/>
          <p:nvPr/>
        </p:nvSpPr>
        <p:spPr>
          <a:xfrm>
            <a:off x="9747504" y="5596128"/>
            <a:ext cx="4297680" cy="16824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966960" y="5779008"/>
            <a:ext cx="594360"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03</a:t>
            </a:r>
          </a:p>
        </p:txBody>
      </p:sp>
      <p:sp>
        <p:nvSpPr>
          <p:cNvPr id="31" name="TextBox 30"/>
          <p:cNvSpPr txBox="1"/>
          <p:nvPr/>
        </p:nvSpPr>
        <p:spPr>
          <a:xfrm>
            <a:off x="9966960" y="6217920"/>
            <a:ext cx="3840480" cy="365760"/>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BM은 중요 업무에 집중</a:t>
            </a:r>
          </a:p>
        </p:txBody>
      </p:sp>
      <p:sp>
        <p:nvSpPr>
          <p:cNvPr id="32" name="TextBox 31"/>
          <p:cNvSpPr txBox="1"/>
          <p:nvPr/>
        </p:nvSpPr>
        <p:spPr>
          <a:xfrm>
            <a:off x="9966960" y="6675120"/>
            <a:ext cx="3840480" cy="41148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비용 판단·이슈 대응·현장 지원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02  /  PROBLEM → SOLUTION → IMPACT</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법인카드 영수증, 월말 추적에서 사용 직후 기록으로</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Google Cloud Vision · Vertex AI를 활용한 법인카드 영수증 관리 시스템</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02 / 04</a:t>
            </a:r>
          </a:p>
        </p:txBody>
      </p:sp>
      <p:sp>
        <p:nvSpPr>
          <p:cNvPr id="9" name="Rounded Rectangle 8"/>
          <p:cNvSpPr/>
          <p:nvPr/>
        </p:nvSpPr>
        <p:spPr>
          <a:xfrm>
            <a:off x="585216"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5216" y="2212848"/>
            <a:ext cx="4297680" cy="73152"/>
          </a:xfrm>
          <a:prstGeom prst="rect">
            <a:avLst/>
          </a:prstGeom>
          <a:solidFill>
            <a:srgbClr val="D77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 y="2505456"/>
            <a:ext cx="3785615" cy="411480"/>
          </a:xfrm>
          <a:prstGeom prst="rect">
            <a:avLst/>
          </a:prstGeom>
          <a:noFill/>
        </p:spPr>
        <p:txBody>
          <a:bodyPr wrap="square" lIns="0" rIns="0" tIns="0" bIns="0">
            <a:spAutoFit/>
          </a:bodyPr>
          <a:lstStyle/>
          <a:p>
            <a:pPr>
              <a:spcAft>
                <a:spcPts val="500"/>
              </a:spcAft>
              <a:defRPr sz="2160" b="1">
                <a:solidFill>
                  <a:srgbClr val="D77424"/>
                </a:solidFill>
                <a:latin typeface="Noto Sans CJK KR"/>
              </a:defRPr>
            </a:pPr>
            <a:r>
              <a:t>현재의 문제</a:t>
            </a:r>
          </a:p>
        </p:txBody>
      </p:sp>
      <p:sp>
        <p:nvSpPr>
          <p:cNvPr id="12" name="Rounded Rectangle 11"/>
          <p:cNvSpPr/>
          <p:nvPr/>
        </p:nvSpPr>
        <p:spPr>
          <a:xfrm>
            <a:off x="5166360"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166360" y="2212848"/>
            <a:ext cx="4297680" cy="73152"/>
          </a:xfrm>
          <a:prstGeom prst="rect">
            <a:avLst/>
          </a:prstGeom>
          <a:solidFill>
            <a:srgbClr val="175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22392" y="2505456"/>
            <a:ext cx="3785615" cy="411480"/>
          </a:xfrm>
          <a:prstGeom prst="rect">
            <a:avLst/>
          </a:prstGeom>
          <a:noFill/>
        </p:spPr>
        <p:txBody>
          <a:bodyPr wrap="square" lIns="0" rIns="0" tIns="0" bIns="0">
            <a:spAutoFit/>
          </a:bodyPr>
          <a:lstStyle/>
          <a:p>
            <a:pPr>
              <a:spcAft>
                <a:spcPts val="500"/>
              </a:spcAft>
              <a:defRPr sz="2160" b="1">
                <a:solidFill>
                  <a:srgbClr val="175EAF"/>
                </a:solidFill>
                <a:latin typeface="Noto Sans CJK KR"/>
              </a:defRPr>
            </a:pPr>
            <a:r>
              <a:t>구현한 개선 방식</a:t>
            </a:r>
          </a:p>
        </p:txBody>
      </p:sp>
      <p:sp>
        <p:nvSpPr>
          <p:cNvPr id="15" name="Rounded Rectangle 14"/>
          <p:cNvSpPr/>
          <p:nvPr/>
        </p:nvSpPr>
        <p:spPr>
          <a:xfrm>
            <a:off x="9747504" y="2212848"/>
            <a:ext cx="4297680" cy="3931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747504" y="2212848"/>
            <a:ext cx="4297680" cy="73152"/>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03536" y="2505456"/>
            <a:ext cx="3785615" cy="411480"/>
          </a:xfrm>
          <a:prstGeom prst="rect">
            <a:avLst/>
          </a:prstGeom>
          <a:noFill/>
        </p:spPr>
        <p:txBody>
          <a:bodyPr wrap="square" lIns="0" rIns="0" tIns="0" bIns="0">
            <a:spAutoFit/>
          </a:bodyPr>
          <a:lstStyle/>
          <a:p>
            <a:pPr>
              <a:spcAft>
                <a:spcPts val="500"/>
              </a:spcAft>
              <a:defRPr sz="2160" b="1">
                <a:solidFill>
                  <a:srgbClr val="008F99"/>
                </a:solidFill>
                <a:latin typeface="Noto Sans CJK KR"/>
              </a:defRPr>
            </a:pPr>
            <a:r>
              <a:t>기대되는 효과</a:t>
            </a:r>
          </a:p>
        </p:txBody>
      </p:sp>
      <p:sp>
        <p:nvSpPr>
          <p:cNvPr id="18" name="TextBox 17"/>
          <p:cNvSpPr txBox="1"/>
          <p:nvPr/>
        </p:nvSpPr>
        <p:spPr>
          <a:xfrm>
            <a:off x="841248"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기록 없는 종이 제출</a:t>
            </a:r>
          </a:p>
        </p:txBody>
      </p:sp>
      <p:sp>
        <p:nvSpPr>
          <p:cNvPr id="19" name="TextBox 18"/>
          <p:cNvSpPr txBox="1"/>
          <p:nvPr/>
        </p:nvSpPr>
        <p:spPr>
          <a:xfrm>
            <a:off x="841248"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사용자·사유가 빠진 채 영수증만 전달</a:t>
            </a:r>
          </a:p>
        </p:txBody>
      </p:sp>
      <p:sp>
        <p:nvSpPr>
          <p:cNvPr id="20" name="TextBox 19"/>
          <p:cNvSpPr txBox="1"/>
          <p:nvPr/>
        </p:nvSpPr>
        <p:spPr>
          <a:xfrm>
            <a:off x="841248"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월말에야 분실 확인</a:t>
            </a:r>
          </a:p>
        </p:txBody>
      </p:sp>
      <p:sp>
        <p:nvSpPr>
          <p:cNvPr id="21" name="TextBox 20"/>
          <p:cNvSpPr txBox="1"/>
          <p:nvPr/>
        </p:nvSpPr>
        <p:spPr>
          <a:xfrm>
            <a:off x="841248"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바쁜 시기에 카드 소유주에게 재문의</a:t>
            </a:r>
          </a:p>
        </p:txBody>
      </p:sp>
      <p:sp>
        <p:nvSpPr>
          <p:cNvPr id="22" name="TextBox 21"/>
          <p:cNvSpPr txBox="1"/>
          <p:nvPr/>
        </p:nvSpPr>
        <p:spPr>
          <a:xfrm>
            <a:off x="841248"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수기 취합과 재확인</a:t>
            </a:r>
          </a:p>
        </p:txBody>
      </p:sp>
      <p:sp>
        <p:nvSpPr>
          <p:cNvPr id="23" name="TextBox 22"/>
          <p:cNvSpPr txBox="1"/>
          <p:nvPr/>
        </p:nvSpPr>
        <p:spPr>
          <a:xfrm>
            <a:off x="841248"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원본·사용정보·처리현황을 따로 관리</a:t>
            </a:r>
          </a:p>
        </p:txBody>
      </p:sp>
      <p:sp>
        <p:nvSpPr>
          <p:cNvPr id="24" name="TextBox 23"/>
          <p:cNvSpPr txBox="1"/>
          <p:nvPr/>
        </p:nvSpPr>
        <p:spPr>
          <a:xfrm>
            <a:off x="5422392"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촬영하면 기본정보 입력</a:t>
            </a:r>
          </a:p>
        </p:txBody>
      </p:sp>
      <p:sp>
        <p:nvSpPr>
          <p:cNvPr id="25" name="TextBox 24"/>
          <p:cNvSpPr txBox="1"/>
          <p:nvPr/>
        </p:nvSpPr>
        <p:spPr>
          <a:xfrm>
            <a:off x="5422392"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업체명·금액·사용일자·주소 인식</a:t>
            </a:r>
          </a:p>
        </p:txBody>
      </p:sp>
      <p:sp>
        <p:nvSpPr>
          <p:cNvPr id="26" name="TextBox 25"/>
          <p:cNvSpPr txBox="1"/>
          <p:nvPr/>
        </p:nvSpPr>
        <p:spPr>
          <a:xfrm>
            <a:off x="5422392"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필수 사용정보 보완</a:t>
            </a:r>
          </a:p>
        </p:txBody>
      </p:sp>
      <p:sp>
        <p:nvSpPr>
          <p:cNvPr id="27" name="TextBox 26"/>
          <p:cNvSpPr txBox="1"/>
          <p:nvPr/>
        </p:nvSpPr>
        <p:spPr>
          <a:xfrm>
            <a:off x="5422392"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실제 사용자·인원·목적·장소 확인</a:t>
            </a:r>
          </a:p>
        </p:txBody>
      </p:sp>
      <p:sp>
        <p:nvSpPr>
          <p:cNvPr id="28" name="TextBox 27"/>
          <p:cNvSpPr txBox="1"/>
          <p:nvPr/>
        </p:nvSpPr>
        <p:spPr>
          <a:xfrm>
            <a:off x="5422392"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후 등록·관리</a:t>
            </a:r>
          </a:p>
        </p:txBody>
      </p:sp>
      <p:sp>
        <p:nvSpPr>
          <p:cNvPr id="29" name="TextBox 28"/>
          <p:cNvSpPr txBox="1"/>
          <p:nvPr/>
        </p:nvSpPr>
        <p:spPr>
          <a:xfrm>
            <a:off x="5422392"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원본 사진과 입력 내역을 연결해 보관</a:t>
            </a:r>
          </a:p>
        </p:txBody>
      </p:sp>
      <p:sp>
        <p:nvSpPr>
          <p:cNvPr id="30" name="TextBox 29"/>
          <p:cNvSpPr txBox="1"/>
          <p:nvPr/>
        </p:nvSpPr>
        <p:spPr>
          <a:xfrm>
            <a:off x="10003536" y="3200400"/>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분실 위험 최소화</a:t>
            </a:r>
          </a:p>
        </p:txBody>
      </p:sp>
      <p:sp>
        <p:nvSpPr>
          <p:cNvPr id="31" name="TextBox 30"/>
          <p:cNvSpPr txBox="1"/>
          <p:nvPr/>
        </p:nvSpPr>
        <p:spPr>
          <a:xfrm>
            <a:off x="10003536" y="3566160"/>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사용 직후 사진을 남겨 증빙 확보</a:t>
            </a:r>
          </a:p>
        </p:txBody>
      </p:sp>
      <p:sp>
        <p:nvSpPr>
          <p:cNvPr id="32" name="TextBox 31"/>
          <p:cNvSpPr txBox="1"/>
          <p:nvPr/>
        </p:nvSpPr>
        <p:spPr>
          <a:xfrm>
            <a:off x="10003536" y="4078224"/>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확인 전화 감소</a:t>
            </a:r>
          </a:p>
        </p:txBody>
      </p:sp>
      <p:sp>
        <p:nvSpPr>
          <p:cNvPr id="33" name="TextBox 32"/>
          <p:cNvSpPr txBox="1"/>
          <p:nvPr/>
        </p:nvSpPr>
        <p:spPr>
          <a:xfrm>
            <a:off x="10003536" y="4443984"/>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누가·몇 명·왜 사용했는지 조회</a:t>
            </a:r>
          </a:p>
        </p:txBody>
      </p:sp>
      <p:sp>
        <p:nvSpPr>
          <p:cNvPr id="34" name="TextBox 33"/>
          <p:cNvSpPr txBox="1"/>
          <p:nvPr/>
        </p:nvSpPr>
        <p:spPr>
          <a:xfrm>
            <a:off x="10003536" y="4956048"/>
            <a:ext cx="3785615" cy="329184"/>
          </a:xfrm>
          <a:prstGeom prst="rect">
            <a:avLst/>
          </a:prstGeom>
          <a:noFill/>
        </p:spPr>
        <p:txBody>
          <a:bodyPr wrap="square" lIns="0" rIns="0" tIns="0" bIns="0">
            <a:spAutoFit/>
          </a:bodyPr>
          <a:lstStyle/>
          <a:p>
            <a:pPr>
              <a:spcAft>
                <a:spcPts val="500"/>
              </a:spcAft>
              <a:defRPr sz="1872" b="1">
                <a:solidFill>
                  <a:srgbClr val="152D46"/>
                </a:solidFill>
                <a:latin typeface="Noto Sans CJK KR"/>
              </a:defRPr>
            </a:pPr>
            <a:r>
              <a:t>월말 취합 부담 완화</a:t>
            </a:r>
          </a:p>
        </p:txBody>
      </p:sp>
      <p:sp>
        <p:nvSpPr>
          <p:cNvPr id="35" name="TextBox 34"/>
          <p:cNvSpPr txBox="1"/>
          <p:nvPr/>
        </p:nvSpPr>
        <p:spPr>
          <a:xfrm>
            <a:off x="10003536" y="5321808"/>
            <a:ext cx="3785615" cy="493776"/>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검색·처리상태 관리·CSV 다운로드</a:t>
            </a:r>
          </a:p>
        </p:txBody>
      </p:sp>
      <p:sp>
        <p:nvSpPr>
          <p:cNvPr id="36" name="Rounded Rectangle 35"/>
          <p:cNvSpPr/>
          <p:nvPr/>
        </p:nvSpPr>
        <p:spPr>
          <a:xfrm>
            <a:off x="585216" y="6400800"/>
            <a:ext cx="13459968" cy="969264"/>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8" y="6565392"/>
            <a:ext cx="12874752" cy="320040"/>
          </a:xfrm>
          <a:prstGeom prst="rect">
            <a:avLst/>
          </a:prstGeom>
          <a:noFill/>
        </p:spPr>
        <p:txBody>
          <a:bodyPr wrap="square" lIns="0" rIns="0" tIns="0" bIns="0">
            <a:spAutoFit/>
          </a:bodyPr>
          <a:lstStyle/>
          <a:p>
            <a:pPr>
              <a:spcAft>
                <a:spcPts val="500"/>
              </a:spcAft>
              <a:defRPr sz="1728" b="1">
                <a:solidFill>
                  <a:srgbClr val="FFFFFF"/>
                </a:solidFill>
                <a:latin typeface="Noto Sans CJK KR"/>
              </a:defRPr>
            </a:pPr>
            <a:r>
              <a:t>효과 검증 기준  |  등록 1건 소요시간 · 재확인 전화 건수 · 월말 취합시간 · 증빙 누락 건수</a:t>
            </a:r>
          </a:p>
        </p:txBody>
      </p:sp>
      <p:sp>
        <p:nvSpPr>
          <p:cNvPr id="38" name="TextBox 37"/>
          <p:cNvSpPr txBox="1"/>
          <p:nvPr/>
        </p:nvSpPr>
        <p:spPr>
          <a:xfrm>
            <a:off x="841248" y="6949440"/>
            <a:ext cx="12874752" cy="292608"/>
          </a:xfrm>
          <a:prstGeom prst="rect">
            <a:avLst/>
          </a:prstGeom>
          <a:noFill/>
        </p:spPr>
        <p:txBody>
          <a:bodyPr wrap="square" lIns="0" rIns="0" tIns="0" bIns="0">
            <a:spAutoFit/>
          </a:bodyPr>
          <a:lstStyle/>
          <a:p>
            <a:pPr>
              <a:spcAft>
                <a:spcPts val="500"/>
              </a:spcAft>
              <a:defRPr sz="1439" b="0">
                <a:solidFill>
                  <a:srgbClr val="BFD8EC"/>
                </a:solidFill>
                <a:latin typeface="Noto Sans CJK KR"/>
              </a:defRPr>
            </a:pPr>
            <a:r>
              <a:t>기대효과이며 절감률·절감시간은 시범 운영 전후 동일 기준으로 측정합니다.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03  /  HOW · 운영 프로세스와 프로그램 구성</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AI는 읽고, 직원은 확인하고, 관리팀은 처리합니다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촬영부터 관리까지 연결하되, 최종 입력과 처리 판단은 사람이 확인합니다.</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03 / 04</a:t>
            </a:r>
          </a:p>
        </p:txBody>
      </p:sp>
      <p:sp>
        <p:nvSpPr>
          <p:cNvPr id="9" name="Rounded Rectangle 8"/>
          <p:cNvSpPr/>
          <p:nvPr/>
        </p:nvSpPr>
        <p:spPr>
          <a:xfrm>
            <a:off x="58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1</a:t>
            </a:r>
          </a:p>
        </p:txBody>
      </p:sp>
      <p:sp>
        <p:nvSpPr>
          <p:cNvPr id="11" name="TextBox 10"/>
          <p:cNvSpPr txBox="1"/>
          <p:nvPr/>
        </p:nvSpPr>
        <p:spPr>
          <a:xfrm>
            <a:off x="74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사진 촬영</a:t>
            </a:r>
          </a:p>
        </p:txBody>
      </p:sp>
      <p:sp>
        <p:nvSpPr>
          <p:cNvPr id="12" name="TextBox 11"/>
          <p:cNvSpPr txBox="1"/>
          <p:nvPr/>
        </p:nvSpPr>
        <p:spPr>
          <a:xfrm>
            <a:off x="74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모바일/PC</a:t>
            </a:r>
          </a:p>
        </p:txBody>
      </p:sp>
      <p:sp>
        <p:nvSpPr>
          <p:cNvPr id="13" name="TextBox 12"/>
          <p:cNvSpPr txBox="1"/>
          <p:nvPr/>
        </p:nvSpPr>
        <p:spPr>
          <a:xfrm>
            <a:off x="2651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4" name="Rounded Rectangle 13"/>
          <p:cNvSpPr/>
          <p:nvPr/>
        </p:nvSpPr>
        <p:spPr>
          <a:xfrm>
            <a:off x="2871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35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2</a:t>
            </a:r>
          </a:p>
        </p:txBody>
      </p:sp>
      <p:sp>
        <p:nvSpPr>
          <p:cNvPr id="16" name="TextBox 15"/>
          <p:cNvSpPr txBox="1"/>
          <p:nvPr/>
        </p:nvSpPr>
        <p:spPr>
          <a:xfrm>
            <a:off x="3035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글자 인식</a:t>
            </a:r>
          </a:p>
        </p:txBody>
      </p:sp>
      <p:sp>
        <p:nvSpPr>
          <p:cNvPr id="17" name="TextBox 16"/>
          <p:cNvSpPr txBox="1"/>
          <p:nvPr/>
        </p:nvSpPr>
        <p:spPr>
          <a:xfrm>
            <a:off x="3035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Cloud Vision</a:t>
            </a:r>
          </a:p>
        </p:txBody>
      </p:sp>
      <p:sp>
        <p:nvSpPr>
          <p:cNvPr id="18" name="TextBox 17"/>
          <p:cNvSpPr txBox="1"/>
          <p:nvPr/>
        </p:nvSpPr>
        <p:spPr>
          <a:xfrm>
            <a:off x="4937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19" name="Rounded Rectangle 18"/>
          <p:cNvSpPr/>
          <p:nvPr/>
        </p:nvSpPr>
        <p:spPr>
          <a:xfrm>
            <a:off x="5157216" y="2231136"/>
            <a:ext cx="2029968" cy="1225296"/>
          </a:xfrm>
          <a:prstGeom prst="roundRect">
            <a:avLst/>
          </a:prstGeom>
          <a:solidFill>
            <a:srgbClr val="152D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21808" y="2359152"/>
            <a:ext cx="1691640" cy="274320"/>
          </a:xfrm>
          <a:prstGeom prst="rect">
            <a:avLst/>
          </a:prstGeom>
          <a:noFill/>
        </p:spPr>
        <p:txBody>
          <a:bodyPr wrap="square" lIns="0" rIns="0" tIns="0" bIns="0">
            <a:spAutoFit/>
          </a:bodyPr>
          <a:lstStyle/>
          <a:p>
            <a:pPr>
              <a:spcAft>
                <a:spcPts val="500"/>
              </a:spcAft>
              <a:defRPr sz="1584" b="1">
                <a:solidFill>
                  <a:srgbClr val="69D6D6"/>
                </a:solidFill>
                <a:latin typeface="Noto Sans CJK KR"/>
              </a:defRPr>
            </a:pPr>
            <a:r>
              <a:t>3</a:t>
            </a:r>
          </a:p>
        </p:txBody>
      </p:sp>
      <p:sp>
        <p:nvSpPr>
          <p:cNvPr id="21" name="TextBox 20"/>
          <p:cNvSpPr txBox="1"/>
          <p:nvPr/>
        </p:nvSpPr>
        <p:spPr>
          <a:xfrm>
            <a:off x="5321808" y="2706624"/>
            <a:ext cx="1737360" cy="365760"/>
          </a:xfrm>
          <a:prstGeom prst="rect">
            <a:avLst/>
          </a:prstGeom>
          <a:noFill/>
        </p:spPr>
        <p:txBody>
          <a:bodyPr wrap="square" lIns="0" rIns="0" tIns="0" bIns="0">
            <a:spAutoFit/>
          </a:bodyPr>
          <a:lstStyle/>
          <a:p>
            <a:pPr>
              <a:spcAft>
                <a:spcPts val="500"/>
              </a:spcAft>
              <a:defRPr sz="1800" b="1">
                <a:solidFill>
                  <a:srgbClr val="FFFFFF"/>
                </a:solidFill>
                <a:latin typeface="Noto Sans CJK KR"/>
              </a:defRPr>
            </a:pPr>
            <a:r>
              <a:t>항목 분류</a:t>
            </a:r>
          </a:p>
        </p:txBody>
      </p:sp>
      <p:sp>
        <p:nvSpPr>
          <p:cNvPr id="22" name="TextBox 21"/>
          <p:cNvSpPr txBox="1"/>
          <p:nvPr/>
        </p:nvSpPr>
        <p:spPr>
          <a:xfrm>
            <a:off x="5321808" y="3090672"/>
            <a:ext cx="1773936" cy="274320"/>
          </a:xfrm>
          <a:prstGeom prst="rect">
            <a:avLst/>
          </a:prstGeom>
          <a:noFill/>
        </p:spPr>
        <p:txBody>
          <a:bodyPr wrap="square" lIns="0" rIns="0" tIns="0" bIns="0">
            <a:spAutoFit/>
          </a:bodyPr>
          <a:lstStyle/>
          <a:p>
            <a:pPr>
              <a:spcAft>
                <a:spcPts val="500"/>
              </a:spcAft>
              <a:defRPr sz="1296" b="0">
                <a:solidFill>
                  <a:srgbClr val="C5D9E9"/>
                </a:solidFill>
                <a:latin typeface="Noto Sans CJK KR"/>
              </a:defRPr>
            </a:pPr>
            <a:r>
              <a:t>Vertex AI</a:t>
            </a:r>
          </a:p>
        </p:txBody>
      </p:sp>
      <p:sp>
        <p:nvSpPr>
          <p:cNvPr id="23" name="TextBox 22"/>
          <p:cNvSpPr txBox="1"/>
          <p:nvPr/>
        </p:nvSpPr>
        <p:spPr>
          <a:xfrm>
            <a:off x="7223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4" name="Rounded Rectangle 23"/>
          <p:cNvSpPr/>
          <p:nvPr/>
        </p:nvSpPr>
        <p:spPr>
          <a:xfrm>
            <a:off x="7443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07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4</a:t>
            </a:r>
          </a:p>
        </p:txBody>
      </p:sp>
      <p:sp>
        <p:nvSpPr>
          <p:cNvPr id="26" name="TextBox 25"/>
          <p:cNvSpPr txBox="1"/>
          <p:nvPr/>
        </p:nvSpPr>
        <p:spPr>
          <a:xfrm>
            <a:off x="7607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확인·필수 입력</a:t>
            </a:r>
          </a:p>
        </p:txBody>
      </p:sp>
      <p:sp>
        <p:nvSpPr>
          <p:cNvPr id="27" name="TextBox 26"/>
          <p:cNvSpPr txBox="1"/>
          <p:nvPr/>
        </p:nvSpPr>
        <p:spPr>
          <a:xfrm>
            <a:off x="7607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직원 · 원본 대조</a:t>
            </a:r>
          </a:p>
        </p:txBody>
      </p:sp>
      <p:sp>
        <p:nvSpPr>
          <p:cNvPr id="28" name="TextBox 27"/>
          <p:cNvSpPr txBox="1"/>
          <p:nvPr/>
        </p:nvSpPr>
        <p:spPr>
          <a:xfrm>
            <a:off x="9509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29" name="Rounded Rectangle 28"/>
          <p:cNvSpPr/>
          <p:nvPr/>
        </p:nvSpPr>
        <p:spPr>
          <a:xfrm>
            <a:off x="9729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93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5</a:t>
            </a:r>
          </a:p>
        </p:txBody>
      </p:sp>
      <p:sp>
        <p:nvSpPr>
          <p:cNvPr id="31" name="TextBox 30"/>
          <p:cNvSpPr txBox="1"/>
          <p:nvPr/>
        </p:nvSpPr>
        <p:spPr>
          <a:xfrm>
            <a:off x="9893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저장·내역 조회</a:t>
            </a:r>
          </a:p>
        </p:txBody>
      </p:sp>
      <p:sp>
        <p:nvSpPr>
          <p:cNvPr id="32" name="TextBox 31"/>
          <p:cNvSpPr txBox="1"/>
          <p:nvPr/>
        </p:nvSpPr>
        <p:spPr>
          <a:xfrm>
            <a:off x="9893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GCS · Firestore</a:t>
            </a:r>
          </a:p>
        </p:txBody>
      </p:sp>
      <p:sp>
        <p:nvSpPr>
          <p:cNvPr id="33" name="TextBox 32"/>
          <p:cNvSpPr txBox="1"/>
          <p:nvPr/>
        </p:nvSpPr>
        <p:spPr>
          <a:xfrm>
            <a:off x="11795760" y="2660904"/>
            <a:ext cx="228600" cy="320040"/>
          </a:xfrm>
          <a:prstGeom prst="rect">
            <a:avLst/>
          </a:prstGeom>
          <a:noFill/>
        </p:spPr>
        <p:txBody>
          <a:bodyPr wrap="square" lIns="0" rIns="0" tIns="0" bIns="0">
            <a:spAutoFit/>
          </a:bodyPr>
          <a:lstStyle/>
          <a:p>
            <a:pPr>
              <a:spcAft>
                <a:spcPts val="500"/>
              </a:spcAft>
              <a:defRPr sz="1655" b="1">
                <a:solidFill>
                  <a:srgbClr val="008F99"/>
                </a:solidFill>
                <a:latin typeface="Noto Sans CJK KR"/>
              </a:defRPr>
            </a:pPr>
            <a:r>
              <a:t>→</a:t>
            </a:r>
          </a:p>
        </p:txBody>
      </p:sp>
      <p:sp>
        <p:nvSpPr>
          <p:cNvPr id="34" name="Rounded Rectangle 33"/>
          <p:cNvSpPr/>
          <p:nvPr/>
        </p:nvSpPr>
        <p:spPr>
          <a:xfrm>
            <a:off x="12015216" y="2231136"/>
            <a:ext cx="2029968" cy="12252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179808" y="2359152"/>
            <a:ext cx="1691640" cy="274320"/>
          </a:xfrm>
          <a:prstGeom prst="rect">
            <a:avLst/>
          </a:prstGeom>
          <a:noFill/>
        </p:spPr>
        <p:txBody>
          <a:bodyPr wrap="square" lIns="0" rIns="0" tIns="0" bIns="0">
            <a:spAutoFit/>
          </a:bodyPr>
          <a:lstStyle/>
          <a:p>
            <a:pPr>
              <a:spcAft>
                <a:spcPts val="500"/>
              </a:spcAft>
              <a:defRPr sz="1584" b="1">
                <a:solidFill>
                  <a:srgbClr val="008F99"/>
                </a:solidFill>
                <a:latin typeface="Noto Sans CJK KR"/>
              </a:defRPr>
            </a:pPr>
            <a:r>
              <a:t>6</a:t>
            </a:r>
          </a:p>
        </p:txBody>
      </p:sp>
      <p:sp>
        <p:nvSpPr>
          <p:cNvPr id="36" name="TextBox 35"/>
          <p:cNvSpPr txBox="1"/>
          <p:nvPr/>
        </p:nvSpPr>
        <p:spPr>
          <a:xfrm>
            <a:off x="12179808" y="2706624"/>
            <a:ext cx="1737360" cy="365760"/>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검토·취합</a:t>
            </a:r>
          </a:p>
        </p:txBody>
      </p:sp>
      <p:sp>
        <p:nvSpPr>
          <p:cNvPr id="37" name="TextBox 36"/>
          <p:cNvSpPr txBox="1"/>
          <p:nvPr/>
        </p:nvSpPr>
        <p:spPr>
          <a:xfrm>
            <a:off x="12179808" y="3090672"/>
            <a:ext cx="1773936" cy="274320"/>
          </a:xfrm>
          <a:prstGeom prst="rect">
            <a:avLst/>
          </a:prstGeom>
          <a:noFill/>
        </p:spPr>
        <p:txBody>
          <a:bodyPr wrap="square" lIns="0" rIns="0" tIns="0" bIns="0">
            <a:spAutoFit/>
          </a:bodyPr>
          <a:lstStyle/>
          <a:p>
            <a:pPr>
              <a:spcAft>
                <a:spcPts val="500"/>
              </a:spcAft>
              <a:defRPr sz="1296" b="0">
                <a:solidFill>
                  <a:srgbClr val="5D7185"/>
                </a:solidFill>
                <a:latin typeface="Noto Sans CJK KR"/>
              </a:defRPr>
            </a:pPr>
            <a:r>
              <a:t>관리자 · CSV</a:t>
            </a:r>
          </a:p>
        </p:txBody>
      </p:sp>
      <p:sp>
        <p:nvSpPr>
          <p:cNvPr id="38" name="Rounded Rectangle 37"/>
          <p:cNvSpPr/>
          <p:nvPr/>
        </p:nvSpPr>
        <p:spPr>
          <a:xfrm>
            <a:off x="585216"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2960"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직원 프로그램</a:t>
            </a:r>
          </a:p>
        </p:txBody>
      </p:sp>
      <p:sp>
        <p:nvSpPr>
          <p:cNvPr id="40" name="TextBox 39"/>
          <p:cNvSpPr txBox="1"/>
          <p:nvPr/>
        </p:nvSpPr>
        <p:spPr>
          <a:xfrm>
            <a:off x="822960"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영수증 촬영 · 기본정보 확인/수정</a:t>
            </a:r>
          </a:p>
          <a:p>
            <a:pPr>
              <a:spcAft>
                <a:spcPts val="500"/>
              </a:spcAft>
              <a:defRPr sz="1584" b="0">
                <a:solidFill>
                  <a:srgbClr val="5D7185"/>
                </a:solidFill>
                <a:latin typeface="Noto Sans CJK KR"/>
              </a:defRPr>
            </a:pPr>
            <a:r>
              <a:t>실제 사용자 · 참석 인원 · 목적 · 장소 입력</a:t>
            </a:r>
          </a:p>
          <a:p>
            <a:pPr>
              <a:spcAft>
                <a:spcPts val="500"/>
              </a:spcAft>
              <a:defRPr sz="1584" b="0">
                <a:solidFill>
                  <a:srgbClr val="5D7185"/>
                </a:solidFill>
                <a:latin typeface="Noto Sans CJK KR"/>
              </a:defRPr>
            </a:pPr>
            <a:r>
              <a:t>입력내용 확인 후 등록 · 본인 처리상태 조회</a:t>
            </a:r>
          </a:p>
        </p:txBody>
      </p:sp>
      <p:sp>
        <p:nvSpPr>
          <p:cNvPr id="41" name="Rounded Rectangle 40"/>
          <p:cNvSpPr/>
          <p:nvPr/>
        </p:nvSpPr>
        <p:spPr>
          <a:xfrm>
            <a:off x="5166360"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04104"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AI·클라우드 처리</a:t>
            </a:r>
          </a:p>
        </p:txBody>
      </p:sp>
      <p:sp>
        <p:nvSpPr>
          <p:cNvPr id="43" name="TextBox 42"/>
          <p:cNvSpPr txBox="1"/>
          <p:nvPr/>
        </p:nvSpPr>
        <p:spPr>
          <a:xfrm>
            <a:off x="5404104"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Vision: 영수증에서 글자 추출</a:t>
            </a:r>
          </a:p>
          <a:p>
            <a:pPr>
              <a:spcAft>
                <a:spcPts val="500"/>
              </a:spcAft>
              <a:defRPr sz="1584" b="0">
                <a:solidFill>
                  <a:srgbClr val="5D7185"/>
                </a:solidFill>
                <a:latin typeface="Noto Sans CJK KR"/>
              </a:defRPr>
            </a:pPr>
            <a:r>
              <a:t>Vertex AI: 업체명·일자·금액·주소 분류</a:t>
            </a:r>
          </a:p>
          <a:p>
            <a:pPr>
              <a:spcAft>
                <a:spcPts val="500"/>
              </a:spcAft>
              <a:defRPr sz="1584" b="0">
                <a:solidFill>
                  <a:srgbClr val="5D7185"/>
                </a:solidFill>
                <a:latin typeface="Noto Sans CJK KR"/>
              </a:defRPr>
            </a:pPr>
            <a:r>
              <a:t>GCS: 원본 사진 / Firestore: 내역·처리상태</a:t>
            </a:r>
          </a:p>
        </p:txBody>
      </p:sp>
      <p:sp>
        <p:nvSpPr>
          <p:cNvPr id="44" name="Rounded Rectangle 43"/>
          <p:cNvSpPr/>
          <p:nvPr/>
        </p:nvSpPr>
        <p:spPr>
          <a:xfrm>
            <a:off x="9747504" y="3749039"/>
            <a:ext cx="4297680" cy="21031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85248" y="3950208"/>
            <a:ext cx="3822191" cy="36576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관리자 프로그램</a:t>
            </a:r>
          </a:p>
        </p:txBody>
      </p:sp>
      <p:sp>
        <p:nvSpPr>
          <p:cNvPr id="46" name="TextBox 45"/>
          <p:cNvSpPr txBox="1"/>
          <p:nvPr/>
        </p:nvSpPr>
        <p:spPr>
          <a:xfrm>
            <a:off x="9985248" y="4462272"/>
            <a:ext cx="3822191" cy="1243584"/>
          </a:xfrm>
          <a:prstGeom prst="rect">
            <a:avLst/>
          </a:prstGeom>
          <a:noFill/>
        </p:spPr>
        <p:txBody>
          <a:bodyPr wrap="square" lIns="0" rIns="0" tIns="0" bIns="0">
            <a:spAutoFit/>
          </a:bodyPr>
          <a:lstStyle/>
          <a:p>
            <a:pPr>
              <a:spcAft>
                <a:spcPts val="500"/>
              </a:spcAft>
              <a:defRPr sz="1584" b="0">
                <a:solidFill>
                  <a:srgbClr val="5D7185"/>
                </a:solidFill>
                <a:latin typeface="Noto Sans CJK KR"/>
              </a:defRPr>
            </a:pPr>
            <a:r>
              <a:t>기간 · 사용자 · 사용처 · 상태별 검색</a:t>
            </a:r>
          </a:p>
          <a:p>
            <a:pPr>
              <a:spcAft>
                <a:spcPts val="500"/>
              </a:spcAft>
              <a:defRPr sz="1584" b="0">
                <a:solidFill>
                  <a:srgbClr val="5D7185"/>
                </a:solidFill>
                <a:latin typeface="Noto Sans CJK KR"/>
              </a:defRPr>
            </a:pPr>
            <a:r>
              <a:t>상세 확인 · 수정 · 전표 처리 관리</a:t>
            </a:r>
          </a:p>
          <a:p>
            <a:pPr>
              <a:spcAft>
                <a:spcPts val="500"/>
              </a:spcAft>
              <a:defRPr sz="1584" b="0">
                <a:solidFill>
                  <a:srgbClr val="5D7185"/>
                </a:solidFill>
                <a:latin typeface="Noto Sans CJK KR"/>
              </a:defRPr>
            </a:pPr>
            <a:r>
              <a:t>사진 보기/다운로드 · 검색 결과 CSV</a:t>
            </a:r>
          </a:p>
        </p:txBody>
      </p:sp>
      <p:sp>
        <p:nvSpPr>
          <p:cNvPr id="47" name="Rounded Rectangle 46"/>
          <p:cNvSpPr/>
          <p:nvPr/>
        </p:nvSpPr>
        <p:spPr>
          <a:xfrm>
            <a:off x="585216" y="6071616"/>
            <a:ext cx="13459968" cy="1316736"/>
          </a:xfrm>
          <a:prstGeom prst="roundRect">
            <a:avLst/>
          </a:prstGeom>
          <a:solidFill>
            <a:srgbClr val="E5F0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2960" y="6227064"/>
            <a:ext cx="12947904" cy="310896"/>
          </a:xfrm>
          <a:prstGeom prst="rect">
            <a:avLst/>
          </a:prstGeom>
          <a:noFill/>
        </p:spPr>
        <p:txBody>
          <a:bodyPr wrap="square" lIns="0" rIns="0" tIns="0" bIns="0">
            <a:spAutoFit/>
          </a:bodyPr>
          <a:lstStyle/>
          <a:p>
            <a:pPr>
              <a:spcAft>
                <a:spcPts val="500"/>
              </a:spcAft>
              <a:defRPr sz="1800" b="1">
                <a:solidFill>
                  <a:srgbClr val="152D46"/>
                </a:solidFill>
                <a:latin typeface="Noto Sans CJK KR"/>
              </a:defRPr>
            </a:pPr>
            <a:r>
              <a:t>프로그램에 담긴 정보와 입력 기준</a:t>
            </a:r>
          </a:p>
        </p:txBody>
      </p:sp>
      <p:sp>
        <p:nvSpPr>
          <p:cNvPr id="49" name="TextBox 48"/>
          <p:cNvSpPr txBox="1"/>
          <p:nvPr/>
        </p:nvSpPr>
        <p:spPr>
          <a:xfrm>
            <a:off x="822960" y="6647688"/>
            <a:ext cx="12947904" cy="59436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업체명 · 사용일자 · 금액 + 실제 사용자 · 참석 인원수(1~99) · 구체적인 사용 목적 · 사용장소</a:t>
            </a:r>
          </a:p>
          <a:p>
            <a:pPr>
              <a:spcAft>
                <a:spcPts val="500"/>
              </a:spcAft>
              <a:defRPr sz="1512" b="0">
                <a:solidFill>
                  <a:srgbClr val="5D7185"/>
                </a:solidFill>
                <a:latin typeface="Noto Sans CJK KR"/>
              </a:defRPr>
            </a:pPr>
            <a:r>
              <a:t>첨부 지침: 10만원 초과(VAT 포함)는 사용자·인원·목적 기재 / 복리후생비·회의비 전자상거래·PG 건은 금액 무관 + 사용장소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00" cy="8229600"/>
          </a:xfrm>
          <a:prstGeom prst="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8229600"/>
          </a:xfrm>
          <a:prstGeom prst="rect">
            <a:avLst/>
          </a:prstGeom>
          <a:solidFill>
            <a:srgbClr val="008F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85216" y="310896"/>
            <a:ext cx="12801600" cy="320040"/>
          </a:xfrm>
          <a:prstGeom prst="rect">
            <a:avLst/>
          </a:prstGeom>
          <a:noFill/>
        </p:spPr>
        <p:txBody>
          <a:bodyPr wrap="square" lIns="0" rIns="0" tIns="0" bIns="0">
            <a:spAutoFit/>
          </a:bodyPr>
          <a:lstStyle/>
          <a:p>
            <a:pPr>
              <a:spcAft>
                <a:spcPts val="500"/>
              </a:spcAft>
              <a:defRPr sz="1296" b="1">
                <a:solidFill>
                  <a:srgbClr val="008F99"/>
                </a:solidFill>
                <a:latin typeface="Noto Sans CJK KR"/>
              </a:defRPr>
            </a:pPr>
            <a:r>
              <a:t>04  /  DEMO · 접속부터 관리자 확인까지</a:t>
            </a:r>
          </a:p>
        </p:txBody>
      </p:sp>
      <p:sp>
        <p:nvSpPr>
          <p:cNvPr id="5" name="TextBox 4"/>
          <p:cNvSpPr txBox="1"/>
          <p:nvPr/>
        </p:nvSpPr>
        <p:spPr>
          <a:xfrm>
            <a:off x="585216" y="768096"/>
            <a:ext cx="13459968" cy="640080"/>
          </a:xfrm>
          <a:prstGeom prst="rect">
            <a:avLst/>
          </a:prstGeom>
          <a:noFill/>
        </p:spPr>
        <p:txBody>
          <a:bodyPr wrap="square" lIns="0" rIns="0" tIns="0" bIns="0">
            <a:spAutoFit/>
          </a:bodyPr>
          <a:lstStyle/>
          <a:p>
            <a:pPr>
              <a:spcAft>
                <a:spcPts val="500"/>
              </a:spcAft>
              <a:defRPr sz="3095" b="1">
                <a:solidFill>
                  <a:srgbClr val="152D46"/>
                </a:solidFill>
                <a:latin typeface="Noto Sans CJK KR"/>
              </a:defRPr>
            </a:pPr>
            <a:r>
              <a:t>QR로 접속하고, 등록한 내역이 어떻게 관리되는지 확인합니다</a:t>
            </a:r>
          </a:p>
        </p:txBody>
      </p:sp>
      <p:sp>
        <p:nvSpPr>
          <p:cNvPr id="6" name="TextBox 5"/>
          <p:cNvSpPr txBox="1"/>
          <p:nvPr/>
        </p:nvSpPr>
        <p:spPr>
          <a:xfrm>
            <a:off x="585216" y="1463040"/>
            <a:ext cx="13459968" cy="502920"/>
          </a:xfrm>
          <a:prstGeom prst="rect">
            <a:avLst/>
          </a:prstGeom>
          <a:noFill/>
        </p:spPr>
        <p:txBody>
          <a:bodyPr wrap="square" lIns="0" rIns="0" tIns="0" bIns="0">
            <a:spAutoFit/>
          </a:bodyPr>
          <a:lstStyle/>
          <a:p>
            <a:pPr>
              <a:spcAft>
                <a:spcPts val="500"/>
              </a:spcAft>
              <a:defRPr sz="1728" b="0">
                <a:solidFill>
                  <a:srgbClr val="5D7185"/>
                </a:solidFill>
                <a:latin typeface="Noto Sans CJK KR"/>
              </a:defRPr>
            </a:pPr>
            <a:r>
              <a:t>시연 순서: 접속 → 촬영·필수정보 입력 → 최종 확인·등록 → 관리자 검색·처리</a:t>
            </a:r>
          </a:p>
        </p:txBody>
      </p:sp>
      <p:sp>
        <p:nvSpPr>
          <p:cNvPr id="7" name="TextBox 6"/>
          <p:cNvSpPr txBox="1"/>
          <p:nvPr/>
        </p:nvSpPr>
        <p:spPr>
          <a:xfrm>
            <a:off x="585216" y="7827264"/>
            <a:ext cx="12801600" cy="228600"/>
          </a:xfrm>
          <a:prstGeom prst="rect">
            <a:avLst/>
          </a:prstGeom>
          <a:noFill/>
        </p:spPr>
        <p:txBody>
          <a:bodyPr wrap="square" lIns="0" rIns="0" tIns="0" bIns="0">
            <a:spAutoFit/>
          </a:bodyPr>
          <a:lstStyle/>
          <a:p>
            <a:pPr>
              <a:spcAft>
                <a:spcPts val="500"/>
              </a:spcAft>
              <a:defRPr sz="1080" b="0">
                <a:solidFill>
                  <a:srgbClr val="5D7185"/>
                </a:solidFill>
                <a:latin typeface="Noto Sans CJK KR"/>
              </a:defRPr>
            </a:pPr>
            <a:r>
              <a:t>AURORA PROJECT  /  BM 업무 효율화 해커톤  /  2026.10.22–23</a:t>
            </a:r>
          </a:p>
        </p:txBody>
      </p:sp>
      <p:sp>
        <p:nvSpPr>
          <p:cNvPr id="8" name="TextBox 7"/>
          <p:cNvSpPr txBox="1"/>
          <p:nvPr/>
        </p:nvSpPr>
        <p:spPr>
          <a:xfrm>
            <a:off x="13487400" y="7772400"/>
            <a:ext cx="640080" cy="274320"/>
          </a:xfrm>
          <a:prstGeom prst="rect">
            <a:avLst/>
          </a:prstGeom>
          <a:noFill/>
        </p:spPr>
        <p:txBody>
          <a:bodyPr wrap="square" lIns="0" rIns="0" tIns="0" bIns="0">
            <a:spAutoFit/>
          </a:bodyPr>
          <a:lstStyle/>
          <a:p>
            <a:pPr>
              <a:spcAft>
                <a:spcPts val="500"/>
              </a:spcAft>
              <a:defRPr sz="1224" b="1">
                <a:solidFill>
                  <a:srgbClr val="008F99"/>
                </a:solidFill>
                <a:latin typeface="Noto Sans CJK KR"/>
              </a:defRPr>
            </a:pPr>
            <a:r>
              <a:t>04 / 04</a:t>
            </a:r>
          </a:p>
        </p:txBody>
      </p:sp>
      <p:sp>
        <p:nvSpPr>
          <p:cNvPr id="9" name="Rounded Rectangle 8"/>
          <p:cNvSpPr/>
          <p:nvPr/>
        </p:nvSpPr>
        <p:spPr>
          <a:xfrm>
            <a:off x="585216" y="2157984"/>
            <a:ext cx="2377440"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 y="2340864"/>
            <a:ext cx="1993392" cy="320040"/>
          </a:xfrm>
          <a:prstGeom prst="rect">
            <a:avLst/>
          </a:prstGeom>
          <a:noFill/>
        </p:spPr>
        <p:txBody>
          <a:bodyPr wrap="square" lIns="0" rIns="0" tIns="0" bIns="0">
            <a:spAutoFit/>
          </a:bodyPr>
          <a:lstStyle/>
          <a:p>
            <a:pPr>
              <a:spcAft>
                <a:spcPts val="500"/>
              </a:spcAft>
              <a:defRPr sz="2016" b="1">
                <a:solidFill>
                  <a:srgbClr val="008F99"/>
                </a:solidFill>
                <a:latin typeface="Noto Sans CJK KR"/>
              </a:defRPr>
            </a:pPr>
            <a:r>
              <a:t>01  접속</a:t>
            </a:r>
          </a:p>
        </p:txBody>
      </p:sp>
      <p:pic>
        <p:nvPicPr>
          <p:cNvPr id="11" name="Picture 10" descr="receipt-qr.png"/>
          <p:cNvPicPr>
            <a:picLocks noChangeAspect="1"/>
          </p:cNvPicPr>
          <p:nvPr/>
        </p:nvPicPr>
        <p:blipFill>
          <a:blip r:embed="rId2"/>
          <a:stretch>
            <a:fillRect/>
          </a:stretch>
        </p:blipFill>
        <p:spPr>
          <a:xfrm>
            <a:off x="813816" y="2834640"/>
            <a:ext cx="1920240" cy="1920240"/>
          </a:xfrm>
          <a:prstGeom prst="rect">
            <a:avLst/>
          </a:prstGeom>
        </p:spPr>
      </p:pic>
      <p:sp>
        <p:nvSpPr>
          <p:cNvPr id="12" name="TextBox 11"/>
          <p:cNvSpPr txBox="1"/>
          <p:nvPr/>
        </p:nvSpPr>
        <p:spPr>
          <a:xfrm>
            <a:off x="786384" y="4892040"/>
            <a:ext cx="1993392" cy="658368"/>
          </a:xfrm>
          <a:prstGeom prst="rect">
            <a:avLst/>
          </a:prstGeom>
          <a:noFill/>
        </p:spPr>
        <p:txBody>
          <a:bodyPr wrap="square" lIns="0" rIns="0" tIns="0" bIns="0">
            <a:spAutoFit/>
          </a:bodyPr>
          <a:lstStyle/>
          <a:p>
            <a:pPr>
              <a:spcAft>
                <a:spcPts val="500"/>
              </a:spcAft>
              <a:defRPr sz="1655" b="1">
                <a:solidFill>
                  <a:srgbClr val="152D46"/>
                </a:solidFill>
                <a:latin typeface="Noto Sans CJK KR"/>
              </a:defRPr>
            </a:pPr>
            <a:r>
              <a:t>스마트폰 카메라로</a:t>
            </a:r>
          </a:p>
          <a:p>
            <a:pPr>
              <a:spcAft>
                <a:spcPts val="500"/>
              </a:spcAft>
              <a:defRPr sz="1655" b="1">
                <a:solidFill>
                  <a:srgbClr val="152D46"/>
                </a:solidFill>
                <a:latin typeface="Noto Sans CJK KR"/>
              </a:defRPr>
            </a:pPr>
            <a:r>
              <a:t>QR 코드 스캔</a:t>
            </a:r>
          </a:p>
        </p:txBody>
      </p:sp>
      <p:sp>
        <p:nvSpPr>
          <p:cNvPr id="13" name="TextBox 12"/>
          <p:cNvSpPr txBox="1"/>
          <p:nvPr/>
        </p:nvSpPr>
        <p:spPr>
          <a:xfrm>
            <a:off x="786384" y="5705856"/>
            <a:ext cx="1993392" cy="914400"/>
          </a:xfrm>
          <a:prstGeom prst="rect">
            <a:avLst/>
          </a:prstGeom>
          <a:noFill/>
        </p:spPr>
        <p:txBody>
          <a:bodyPr wrap="square" lIns="0" rIns="0" tIns="0" bIns="0">
            <a:spAutoFit/>
          </a:bodyPr>
          <a:lstStyle/>
          <a:p>
            <a:pPr>
              <a:spcAft>
                <a:spcPts val="500"/>
              </a:spcAft>
              <a:defRPr sz="1512" b="0">
                <a:solidFill>
                  <a:srgbClr val="5D7185"/>
                </a:solidFill>
                <a:latin typeface="Noto Sans CJK KR"/>
              </a:defRPr>
            </a:pPr>
            <a:r>
              <a:t>포털 → 영수증 관리</a:t>
            </a:r>
          </a:p>
          <a:p>
            <a:pPr>
              <a:spcAft>
                <a:spcPts val="500"/>
              </a:spcAft>
              <a:defRPr sz="1512" b="0">
                <a:solidFill>
                  <a:srgbClr val="5D7185"/>
                </a:solidFill>
                <a:latin typeface="Noto Sans CJK KR"/>
              </a:defRPr>
            </a:pPr>
            <a:r>
              <a:t>또는 아래 주소 접속</a:t>
            </a:r>
          </a:p>
          <a:p>
            <a:pPr>
              <a:spcAft>
                <a:spcPts val="500"/>
              </a:spcAft>
              <a:defRPr sz="1512" b="0">
                <a:solidFill>
                  <a:srgbClr val="5D7185"/>
                </a:solidFill>
                <a:latin typeface="Noto Sans CJK KR"/>
              </a:defRPr>
            </a:pPr>
            <a:r>
              <a:t>별도 앱 설치 불필요</a:t>
            </a:r>
          </a:p>
        </p:txBody>
      </p:sp>
      <p:sp>
        <p:nvSpPr>
          <p:cNvPr id="14" name="Rounded Rectangle 13"/>
          <p:cNvSpPr/>
          <p:nvPr/>
        </p:nvSpPr>
        <p:spPr>
          <a:xfrm>
            <a:off x="3182112"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64992"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02  촬영·입력</a:t>
            </a:r>
          </a:p>
        </p:txBody>
      </p:sp>
      <p:pic>
        <p:nvPicPr>
          <p:cNvPr id="16" name="Picture 15" descr="filled.png"/>
          <p:cNvPicPr>
            <a:picLocks noChangeAspect="1"/>
          </p:cNvPicPr>
          <p:nvPr/>
        </p:nvPicPr>
        <p:blipFill>
          <a:blip r:embed="rId3"/>
          <a:stretch>
            <a:fillRect/>
          </a:stretch>
        </p:blipFill>
        <p:spPr>
          <a:xfrm>
            <a:off x="3839228" y="2816352"/>
            <a:ext cx="2087335" cy="2971800"/>
          </a:xfrm>
          <a:prstGeom prst="rect">
            <a:avLst/>
          </a:prstGeom>
        </p:spPr>
      </p:pic>
      <p:sp>
        <p:nvSpPr>
          <p:cNvPr id="17" name="Rounded Rectangle 16"/>
          <p:cNvSpPr/>
          <p:nvPr/>
        </p:nvSpPr>
        <p:spPr>
          <a:xfrm>
            <a:off x="6803136"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86016"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03  확인·등록</a:t>
            </a:r>
          </a:p>
        </p:txBody>
      </p:sp>
      <p:pic>
        <p:nvPicPr>
          <p:cNvPr id="19" name="Picture 18" descr="confirm.png"/>
          <p:cNvPicPr>
            <a:picLocks noChangeAspect="1"/>
          </p:cNvPicPr>
          <p:nvPr/>
        </p:nvPicPr>
        <p:blipFill>
          <a:blip r:embed="rId4"/>
          <a:stretch>
            <a:fillRect/>
          </a:stretch>
        </p:blipFill>
        <p:spPr>
          <a:xfrm>
            <a:off x="7070263" y="2816352"/>
            <a:ext cx="2867313" cy="2971800"/>
          </a:xfrm>
          <a:prstGeom prst="rect">
            <a:avLst/>
          </a:prstGeom>
        </p:spPr>
      </p:pic>
      <p:sp>
        <p:nvSpPr>
          <p:cNvPr id="20" name="Rounded Rectangle 19"/>
          <p:cNvSpPr/>
          <p:nvPr/>
        </p:nvSpPr>
        <p:spPr>
          <a:xfrm>
            <a:off x="10424160" y="2157984"/>
            <a:ext cx="3401568" cy="524865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607040" y="2340864"/>
            <a:ext cx="3035808" cy="320040"/>
          </a:xfrm>
          <a:prstGeom prst="rect">
            <a:avLst/>
          </a:prstGeom>
          <a:noFill/>
        </p:spPr>
        <p:txBody>
          <a:bodyPr wrap="square" lIns="0" rIns="0" tIns="0" bIns="0">
            <a:spAutoFit/>
          </a:bodyPr>
          <a:lstStyle/>
          <a:p>
            <a:pPr>
              <a:spcAft>
                <a:spcPts val="500"/>
              </a:spcAft>
              <a:defRPr sz="1943" b="1">
                <a:solidFill>
                  <a:srgbClr val="008F99"/>
                </a:solidFill>
                <a:latin typeface="Noto Sans CJK KR"/>
              </a:defRPr>
            </a:pPr>
            <a:r>
              <a:t>04  관리자 처리</a:t>
            </a:r>
          </a:p>
        </p:txBody>
      </p:sp>
      <p:pic>
        <p:nvPicPr>
          <p:cNvPr id="22" name="Picture 21" descr="admin.png"/>
          <p:cNvPicPr>
            <a:picLocks noChangeAspect="1"/>
          </p:cNvPicPr>
          <p:nvPr/>
        </p:nvPicPr>
        <p:blipFill>
          <a:blip r:embed="rId5"/>
          <a:stretch>
            <a:fillRect/>
          </a:stretch>
        </p:blipFill>
        <p:spPr>
          <a:xfrm>
            <a:off x="10570464" y="2816352"/>
            <a:ext cx="3108960" cy="2439743"/>
          </a:xfrm>
          <a:prstGeom prst="rect">
            <a:avLst/>
          </a:prstGeom>
        </p:spPr>
      </p:pic>
      <p:sp>
        <p:nvSpPr>
          <p:cNvPr id="23" name="TextBox 22"/>
          <p:cNvSpPr txBox="1"/>
          <p:nvPr/>
        </p:nvSpPr>
        <p:spPr>
          <a:xfrm>
            <a:off x="3364992"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사진 촬영 → 기본정보 확인</a:t>
            </a:r>
          </a:p>
          <a:p>
            <a:pPr>
              <a:spcAft>
                <a:spcPts val="500"/>
              </a:spcAft>
              <a:defRPr sz="1439" b="0">
                <a:solidFill>
                  <a:srgbClr val="152D46"/>
                </a:solidFill>
                <a:latin typeface="Noto Sans CJK KR"/>
              </a:defRPr>
            </a:pPr>
            <a:r>
              <a:t>② 사용자·인원·목적·장소 입력</a:t>
            </a:r>
          </a:p>
          <a:p>
            <a:pPr>
              <a:spcAft>
                <a:spcPts val="500"/>
              </a:spcAft>
              <a:defRPr sz="1439" b="0">
                <a:solidFill>
                  <a:srgbClr val="152D46"/>
                </a:solidFill>
                <a:latin typeface="Noto Sans CJK KR"/>
              </a:defRPr>
            </a:pPr>
            <a:r>
              <a:t>③ 잘못 읽힌 값은 원본 대조</a:t>
            </a:r>
          </a:p>
          <a:p>
            <a:pPr>
              <a:spcAft>
                <a:spcPts val="500"/>
              </a:spcAft>
              <a:defRPr sz="1439" b="0">
                <a:solidFill>
                  <a:srgbClr val="152D46"/>
                </a:solidFill>
                <a:latin typeface="Noto Sans CJK KR"/>
              </a:defRPr>
            </a:pPr>
            <a:r>
              <a:t>④ 입력 내용 확인 버튼 선택</a:t>
            </a:r>
          </a:p>
        </p:txBody>
      </p:sp>
      <p:sp>
        <p:nvSpPr>
          <p:cNvPr id="24" name="TextBox 23"/>
          <p:cNvSpPr txBox="1"/>
          <p:nvPr/>
        </p:nvSpPr>
        <p:spPr>
          <a:xfrm>
            <a:off x="6986016"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확인 화면에서 항목 재검토</a:t>
            </a:r>
          </a:p>
          <a:p>
            <a:pPr>
              <a:spcAft>
                <a:spcPts val="500"/>
              </a:spcAft>
              <a:defRPr sz="1439" b="0">
                <a:solidFill>
                  <a:srgbClr val="152D46"/>
                </a:solidFill>
                <a:latin typeface="Noto Sans CJK KR"/>
              </a:defRPr>
            </a:pPr>
            <a:r>
              <a:t>② 「등록하기」 선택</a:t>
            </a:r>
          </a:p>
          <a:p>
            <a:pPr>
              <a:spcAft>
                <a:spcPts val="500"/>
              </a:spcAft>
              <a:defRPr sz="1439" b="0">
                <a:solidFill>
                  <a:srgbClr val="152D46"/>
                </a:solidFill>
                <a:latin typeface="Noto Sans CJK KR"/>
              </a:defRPr>
            </a:pPr>
            <a:r>
              <a:t>③ 완료 화면·등록번호 확인</a:t>
            </a:r>
          </a:p>
          <a:p>
            <a:pPr>
              <a:spcAft>
                <a:spcPts val="500"/>
              </a:spcAft>
              <a:defRPr sz="1439" b="0">
                <a:solidFill>
                  <a:srgbClr val="152D46"/>
                </a:solidFill>
                <a:latin typeface="Noto Sans CJK KR"/>
              </a:defRPr>
            </a:pPr>
            <a:r>
              <a:t>④ 본인 등록 내용에서 상태 조회</a:t>
            </a:r>
          </a:p>
        </p:txBody>
      </p:sp>
      <p:sp>
        <p:nvSpPr>
          <p:cNvPr id="25" name="TextBox 24"/>
          <p:cNvSpPr txBox="1"/>
          <p:nvPr/>
        </p:nvSpPr>
        <p:spPr>
          <a:xfrm>
            <a:off x="10607040" y="5907024"/>
            <a:ext cx="3035808" cy="1325880"/>
          </a:xfrm>
          <a:prstGeom prst="rect">
            <a:avLst/>
          </a:prstGeom>
          <a:noFill/>
        </p:spPr>
        <p:txBody>
          <a:bodyPr wrap="square" lIns="0" rIns="0" tIns="0" bIns="0">
            <a:spAutoFit/>
          </a:bodyPr>
          <a:lstStyle/>
          <a:p>
            <a:pPr>
              <a:spcAft>
                <a:spcPts val="500"/>
              </a:spcAft>
              <a:defRPr sz="1439" b="0">
                <a:solidFill>
                  <a:srgbClr val="152D46"/>
                </a:solidFill>
                <a:latin typeface="Noto Sans CJK KR"/>
              </a:defRPr>
            </a:pPr>
            <a:r>
              <a:t>① 관리자 접속 → 기간/사용자 검색</a:t>
            </a:r>
          </a:p>
          <a:p>
            <a:pPr>
              <a:spcAft>
                <a:spcPts val="500"/>
              </a:spcAft>
              <a:defRPr sz="1439" b="0">
                <a:solidFill>
                  <a:srgbClr val="152D46"/>
                </a:solidFill>
                <a:latin typeface="Noto Sans CJK KR"/>
              </a:defRPr>
            </a:pPr>
            <a:r>
              <a:t>② 사진·사유·인원·금액 대조</a:t>
            </a:r>
          </a:p>
          <a:p>
            <a:pPr>
              <a:spcAft>
                <a:spcPts val="500"/>
              </a:spcAft>
              <a:defRPr sz="1439" b="0">
                <a:solidFill>
                  <a:srgbClr val="152D46"/>
                </a:solidFill>
                <a:latin typeface="Noto Sans CJK KR"/>
              </a:defRPr>
            </a:pPr>
            <a:r>
              <a:t>③ 전표 처리 X/O와 상태 관리</a:t>
            </a:r>
          </a:p>
          <a:p>
            <a:pPr>
              <a:spcAft>
                <a:spcPts val="500"/>
              </a:spcAft>
              <a:defRPr sz="1439" b="0">
                <a:solidFill>
                  <a:srgbClr val="152D46"/>
                </a:solidFill>
                <a:latin typeface="Noto Sans CJK KR"/>
              </a:defRPr>
            </a:pPr>
            <a:r>
              <a:t>④ CSV 내려받기로 취합</a:t>
            </a:r>
          </a:p>
        </p:txBody>
      </p:sp>
      <p:sp>
        <p:nvSpPr>
          <p:cNvPr id="26" name="TextBox 25"/>
          <p:cNvSpPr txBox="1"/>
          <p:nvPr/>
        </p:nvSpPr>
        <p:spPr>
          <a:xfrm>
            <a:off x="585216" y="7470648"/>
            <a:ext cx="13459968" cy="274320"/>
          </a:xfrm>
          <a:prstGeom prst="rect">
            <a:avLst/>
          </a:prstGeom>
          <a:noFill/>
        </p:spPr>
        <p:txBody>
          <a:bodyPr wrap="square" lIns="0" rIns="0" tIns="0" bIns="0">
            <a:spAutoFit/>
          </a:bodyPr>
          <a:lstStyle/>
          <a:p>
            <a:pPr>
              <a:spcAft>
                <a:spcPts val="500"/>
              </a:spcAft>
              <a:defRPr sz="1224" b="0">
                <a:solidFill>
                  <a:srgbClr val="5D7185"/>
                </a:solidFill>
                <a:latin typeface="Noto Sans CJK KR"/>
              </a:defRPr>
            </a:pPr>
            <a:r>
              <a:rPr>
                <a:hlinkClick r:id="rId7"/>
              </a:rPr>
              <a:t>접속주소: https://receipt.sskim4912.workers.dev/   |   화면: 최신 저장소 빌드 로컬 실행 · 가상 데이터 · 운영 화면 직접 캡처 아님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