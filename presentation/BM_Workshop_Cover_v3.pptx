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장은 발표 전체의 결론과 논리를 먼저 보여주는 요약 장표입니다. 공통 문제: 반복 입력, 수정 후 재확인, 수작업 취합·전달. 해결 접근: Codex 등 AI 도구로 업무용 웹 프로그램을 만들고 Cloud에서 운영. 영수증 시스템은 실행 중에도 Cloud Vision으로 글자를 읽고 Vertex AI로 업체명·금액·일자·주소를 분류하며 직원이 원본 대조 후 사용자·인원·목적·장소를 입력합니다. 식사·출입 시스템에 AI 판독이 적용됐다는 뜻은 아닙니다. 식사·출입 문제점은 개선 과제의 서술이며 현행 내부 승인·자동 집계 기능은 확인 없이 추가하지 않았습니다. 웹 신청과 영수증 사진·정보 연결 기능은 구현 내용, 전화·취합 부담 완화는 기대효과로 구분합니다. 실측 절감시간이나 절감률은 아직 없습니다. 포털은 참고용이므로 발표 내용에서 제외합니다. 2~4장은 기존 영수증 시스템 상세 설명을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2066543"/>
          </a:xfrm>
          <a:prstGeom prst="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" y="384048"/>
            <a:ext cx="512064" cy="45720"/>
          </a:xfrm>
          <a:prstGeom prst="rect">
            <a:avLst/>
          </a:prstGeom>
          <a:solidFill>
            <a:srgbClr val="60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1872" y="256032"/>
            <a:ext cx="1234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1">
                <a:solidFill>
                  <a:srgbClr val="75DCD7"/>
                </a:solidFill>
                <a:latin typeface="Noto Sans CJK KR"/>
              </a:defRPr>
            </a:pPr>
            <a:r>
              <a:t>BM 업무 효율화 해커톤  / 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704088"/>
            <a:ext cx="1345996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11" b="1">
                <a:solidFill>
                  <a:srgbClr val="FFFFFF"/>
                </a:solidFill>
                <a:latin typeface="Noto Sans CJK KR"/>
              </a:defRPr>
            </a:pPr>
            <a:r>
              <a:t>AI Cloud 기반 BM 업무 효율화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408176"/>
            <a:ext cx="1345996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D5E4EE"/>
                </a:solidFill>
                <a:latin typeface="Noto Sans CJK KR"/>
              </a:defRPr>
            </a:pPr>
            <a:r>
              <a:t>문제는 반복 입력과 재확인. 해법은 AI와 Cloud. 목표는 BM의 판단 업무에 집중하는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267712"/>
            <a:ext cx="45720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D77424"/>
                </a:solidFill>
                <a:latin typeface="Noto Sans CJK KR"/>
              </a:defRPr>
            </a:pPr>
            <a:r>
              <a:t>01  우리가 인식한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67712"/>
            <a:ext cx="49834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5EAF"/>
                </a:solidFill>
                <a:latin typeface="Noto Sans CJK KR"/>
              </a:defRPr>
            </a:pPr>
            <a:r>
              <a:t>02  AI·Cloud로 푼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2267712"/>
            <a:ext cx="3621024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03  달라지는 업무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798064"/>
            <a:ext cx="13459968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2962656"/>
            <a:ext cx="45720" cy="950976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35224"/>
            <a:ext cx="4114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52D46"/>
                </a:solidFill>
                <a:latin typeface="Noto Sans CJK KR"/>
              </a:defRPr>
            </a:pPr>
            <a:r>
              <a:t>식사 신청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00984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152D46"/>
                </a:solidFill>
                <a:latin typeface="Noto Sans CJK KR"/>
              </a:defRPr>
            </a:pPr>
            <a:r>
              <a:t>개별 접수 → 수정 때마다 재취합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12463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5D7185"/>
                </a:solidFill>
                <a:latin typeface="Noto Sans CJK KR"/>
              </a:defRPr>
            </a:pPr>
            <a:r>
              <a:t>신청 내용이 여러 경로로 흩어짐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990088"/>
            <a:ext cx="18288" cy="896112"/>
          </a:xfrm>
          <a:prstGeom prst="rect">
            <a:avLst/>
          </a:prstGeom>
          <a:solidFill>
            <a:srgbClr val="E4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02666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5EAF"/>
                </a:solidFill>
                <a:latin typeface="Noto Sans CJK KR"/>
              </a:defRPr>
            </a:pPr>
            <a:r>
              <a:t>AI 도구로 구현한 Cloud 웹 신청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511296"/>
            <a:ext cx="47548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조식·중식·석식 신청 및 내역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255264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008F99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2907792"/>
            <a:ext cx="3566160" cy="1060704"/>
          </a:xfrm>
          <a:prstGeom prst="roundRect">
            <a:avLst/>
          </a:prstGeom>
          <a:solidFill>
            <a:srgbClr val="EA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044952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한곳에서 신청·확인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529584"/>
            <a:ext cx="3200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개별 접수·재취합 부담 완화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" y="4224528"/>
            <a:ext cx="13459968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" y="4389120"/>
            <a:ext cx="45720" cy="950976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61688"/>
            <a:ext cx="4114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52D46"/>
                </a:solidFill>
                <a:latin typeface="Noto Sans CJK KR"/>
              </a:defRPr>
            </a:pPr>
            <a:r>
              <a:t>영수증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72744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152D46"/>
                </a:solidFill>
                <a:latin typeface="Noto Sans CJK KR"/>
              </a:defRPr>
            </a:pPr>
            <a:r>
              <a:t>종이 제출 → 월말에 사용자 재문의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138928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5D7185"/>
                </a:solidFill>
                <a:latin typeface="Noto Sans CJK KR"/>
              </a:defRPr>
            </a:pPr>
            <a:r>
              <a:t>기본정보 재입력·분실·사유 누락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416552"/>
            <a:ext cx="18288" cy="896112"/>
          </a:xfrm>
          <a:prstGeom prst="rect">
            <a:avLst/>
          </a:prstGeom>
          <a:solidFill>
            <a:srgbClr val="E4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44531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5EAF"/>
                </a:solidFill>
                <a:latin typeface="Noto Sans CJK KR"/>
              </a:defRPr>
            </a:pPr>
            <a:r>
              <a:t>Cloud Vision + Vertex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937760"/>
            <a:ext cx="47548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촬영·판독 → 사용정보 확인 → Cloud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68172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008F99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4334256"/>
            <a:ext cx="3566160" cy="1060704"/>
          </a:xfrm>
          <a:prstGeom prst="roundRect">
            <a:avLst/>
          </a:prstGeom>
          <a:solidFill>
            <a:srgbClr val="EA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4471416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사진·사용정보 함께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956048"/>
            <a:ext cx="3200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입력·확인 전화·월말 취합 부담 완화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" y="5650992"/>
            <a:ext cx="13459968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" y="5815584"/>
            <a:ext cx="45720" cy="950976"/>
          </a:xfrm>
          <a:prstGeom prst="rect">
            <a:avLst/>
          </a:prstGeom>
          <a:solidFill>
            <a:srgbClr val="008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788152"/>
            <a:ext cx="4114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52D46"/>
                </a:solidFill>
                <a:latin typeface="Noto Sans CJK KR"/>
              </a:defRPr>
            </a:pPr>
            <a:r>
              <a:t>현장 출입 신청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6153912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28" b="1">
                <a:solidFill>
                  <a:srgbClr val="152D46"/>
                </a:solidFill>
                <a:latin typeface="Noto Sans CJK KR"/>
              </a:defRPr>
            </a:pPr>
            <a:r>
              <a:t>신청정보 반복 전달 → 누락 재확인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6565392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5D7185"/>
                </a:solidFill>
                <a:latin typeface="Noto Sans CJK KR"/>
              </a:defRPr>
            </a:pPr>
            <a:r>
              <a:t>신청 경로가 달라 전달 과정이 번거로움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843016"/>
            <a:ext cx="18288" cy="896112"/>
          </a:xfrm>
          <a:prstGeom prst="rect">
            <a:avLst/>
          </a:prstGeom>
          <a:solidFill>
            <a:srgbClr val="E4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587959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5EAF"/>
                </a:solidFill>
                <a:latin typeface="Noto Sans CJK KR"/>
              </a:defRPr>
            </a:pPr>
            <a:r>
              <a:t>AI 도구로 구현한 Cloud 웹 신청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6364224"/>
            <a:ext cx="47548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0">
                <a:solidFill>
                  <a:srgbClr val="5D7185"/>
                </a:solidFill>
                <a:latin typeface="Noto Sans CJK KR"/>
              </a:defRPr>
            </a:pPr>
            <a:r>
              <a:t>방문·현장 출입 신청을 온라인으로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6108192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60" b="1">
                <a:solidFill>
                  <a:srgbClr val="008F99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20" y="5760720"/>
            <a:ext cx="3566160" cy="1060704"/>
          </a:xfrm>
          <a:prstGeom prst="roundRect">
            <a:avLst/>
          </a:prstGeom>
          <a:solidFill>
            <a:srgbClr val="EA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5897880"/>
            <a:ext cx="3200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08F99"/>
                </a:solidFill>
                <a:latin typeface="Noto Sans CJK KR"/>
              </a:defRPr>
            </a:pPr>
            <a:r>
              <a:t>신청 경로 통일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382512"/>
            <a:ext cx="3200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0">
                <a:solidFill>
                  <a:srgbClr val="152D46"/>
                </a:solidFill>
                <a:latin typeface="Noto Sans CJK KR"/>
              </a:defRPr>
            </a:pPr>
            <a:r>
              <a:t>정보 전달의 혼선·재확인 줄이기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5216" y="7168896"/>
            <a:ext cx="13459968" cy="548640"/>
          </a:xfrm>
          <a:prstGeom prst="roundRect">
            <a:avLst/>
          </a:prstGeom>
          <a:solidFill>
            <a:srgbClr val="15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7278624"/>
            <a:ext cx="1302105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직원은 직접 기록  ·  AI는 영수증 판독  ·  관리팀은 확인·처리  →  BM은 판단·현장 지원에 집중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7872983"/>
            <a:ext cx="12984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80" b="0">
                <a:solidFill>
                  <a:srgbClr val="5D7185"/>
                </a:solidFill>
                <a:latin typeface="Noto Sans CJK KR"/>
              </a:defRPr>
            </a:pPr>
            <a:r>
              <a:t>AURORA PROJECT  /  2026.10.22–23     |     개선 방향·기대효과 요약 · 절감시간 및 절감률은 시범 운영으로 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41680" y="78455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1">
                <a:solidFill>
                  <a:srgbClr val="008F99"/>
                </a:solidFill>
                <a:latin typeface="Noto Sans CJK KR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