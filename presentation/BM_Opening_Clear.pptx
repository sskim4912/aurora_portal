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사용자가 첨부한 수정 장표의 표현과 기능 설명을 기준으로 첫 장을 단순화했다. 낭비 3가지: 미접수 건 재확인, 단순 정보 반복 확인, 수작업 취합·송부. 결과물 순서: 영수증→현장 출입→식사. 세 카드 모두 문제/적용/개선 순서로 통일했다. 식사 자동 제출 및 출입 통합 조회는 사용자 첨부 장표의 설명을 반영했으며 이번 작업에서 시스템을 재검증한 것은 아니다. Vision·Vertex AI의 실행 중 판독은 영수증에 적용된다. AI 개발 도구를 활용한 구현과 서비스 실행 중 AI 판독을 혼동하지 않는다. 실측 절감률이나 절감시간은 추가하지 않았다. 포털은 표시하지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956816"/>
          </a:xfrm>
          <a:prstGeom prst="rect">
            <a:avLst/>
          </a:prstGeom>
          <a:solidFill>
            <a:srgbClr val="15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35331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96" b="1">
                <a:solidFill>
                  <a:srgbClr val="A8C7DD"/>
                </a:solidFill>
                <a:latin typeface="Noto Sans CJK KR"/>
              </a:defRPr>
            </a:pPr>
            <a:r>
              <a:t>중부·강원 BM 지역협의체  |  BM 워크샵 해커톤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35331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8" b="1">
                <a:solidFill>
                  <a:srgbClr val="FFFFFF"/>
                </a:solidFill>
                <a:latin typeface="Noto Sans CJK KR"/>
              </a:defRPr>
            </a:pPr>
            <a:r>
              <a:t>AI·Cloud 기반 관리팀 반복 업무 개선 및 업무 효율화 추진계획(안)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3533120" cy="374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28" b="0">
                <a:solidFill>
                  <a:srgbClr val="CEE4EF"/>
                </a:solidFill>
                <a:latin typeface="Noto Sans CJK KR"/>
              </a:defRPr>
            </a:pPr>
            <a:r>
              <a:t>수작업·자료 취합을 줄여, 관리팀이 비용 판단·이슈 대응·현장 지원에 집중하는 환경 조성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1353312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088" b="1">
                <a:solidFill>
                  <a:srgbClr val="152D46"/>
                </a:solidFill>
                <a:latin typeface="Noto Sans CJK KR"/>
              </a:defRPr>
            </a:pPr>
            <a:r>
              <a:t>우리가 줄이려는 3가지 낭비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06040"/>
            <a:ext cx="4334256" cy="1005840"/>
          </a:xfrm>
          <a:prstGeom prst="roundRect">
            <a:avLst/>
          </a:prstGeom>
          <a:solidFill>
            <a:srgbClr val="FF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606040"/>
            <a:ext cx="64008" cy="1005840"/>
          </a:xfrm>
          <a:prstGeom prst="rect">
            <a:avLst/>
          </a:prstGeom>
          <a:solidFill>
            <a:srgbClr val="DD7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2724912"/>
            <a:ext cx="389534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088" b="1">
                <a:solidFill>
                  <a:srgbClr val="A4480A"/>
                </a:solidFill>
                <a:latin typeface="Noto Sans CJK KR"/>
              </a:defRPr>
            </a:pPr>
            <a:r>
              <a:t>미접수 건 재확인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3209544"/>
            <a:ext cx="3895344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12" b="0">
                <a:solidFill>
                  <a:srgbClr val="152D46"/>
                </a:solidFill>
                <a:latin typeface="Noto Sans CJK KR"/>
              </a:defRPr>
            </a:pPr>
            <a:r>
              <a:t>누가 제출하지 않았는지 다시 확인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48072" y="2606040"/>
            <a:ext cx="4334256" cy="1005840"/>
          </a:xfrm>
          <a:prstGeom prst="roundRect">
            <a:avLst/>
          </a:prstGeom>
          <a:solidFill>
            <a:srgbClr val="FF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48072" y="2606040"/>
            <a:ext cx="64008" cy="1005840"/>
          </a:xfrm>
          <a:prstGeom prst="rect">
            <a:avLst/>
          </a:prstGeom>
          <a:solidFill>
            <a:srgbClr val="DD7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67528" y="2724912"/>
            <a:ext cx="389534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088" b="1">
                <a:solidFill>
                  <a:srgbClr val="A4480A"/>
                </a:solidFill>
                <a:latin typeface="Noto Sans CJK KR"/>
              </a:defRPr>
            </a:pPr>
            <a:r>
              <a:t>단순 정보 반복 확인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67528" y="3209544"/>
            <a:ext cx="3895344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12" b="0">
                <a:solidFill>
                  <a:srgbClr val="152D46"/>
                </a:solidFill>
                <a:latin typeface="Noto Sans CJK KR"/>
              </a:defRPr>
            </a:pPr>
            <a:r>
              <a:t>인원·사유·신청정보를 다시 문의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47504" y="2606040"/>
            <a:ext cx="4334256" cy="1005840"/>
          </a:xfrm>
          <a:prstGeom prst="roundRect">
            <a:avLst/>
          </a:prstGeom>
          <a:solidFill>
            <a:srgbClr val="FF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747504" y="2606040"/>
            <a:ext cx="64008" cy="1005840"/>
          </a:xfrm>
          <a:prstGeom prst="rect">
            <a:avLst/>
          </a:prstGeom>
          <a:solidFill>
            <a:srgbClr val="DD7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0" y="2724912"/>
            <a:ext cx="389534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088" b="1">
                <a:solidFill>
                  <a:srgbClr val="A4480A"/>
                </a:solidFill>
                <a:latin typeface="Noto Sans CJK KR"/>
              </a:defRPr>
            </a:pPr>
            <a:r>
              <a:t>수작업 취합·송부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3209544"/>
            <a:ext cx="3895344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12" b="0">
                <a:solidFill>
                  <a:srgbClr val="152D46"/>
                </a:solidFill>
                <a:latin typeface="Noto Sans CJK KR"/>
              </a:defRPr>
            </a:pPr>
            <a:r>
              <a:t>자료를 모으고 담당자에게 반복 전달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849624"/>
            <a:ext cx="4334256" cy="33009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849624"/>
            <a:ext cx="4334256" cy="45720"/>
          </a:xfrm>
          <a:prstGeom prst="rect">
            <a:avLst/>
          </a:prstGeom>
          <a:solidFill>
            <a:srgbClr val="008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4023360"/>
            <a:ext cx="3895344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016" b="1">
                <a:solidFill>
                  <a:srgbClr val="152D46"/>
                </a:solidFill>
                <a:latin typeface="Noto Sans CJK KR"/>
              </a:defRPr>
            </a:pPr>
            <a:r>
              <a:t>01  법인카드 영수증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4599432"/>
            <a:ext cx="64008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96" b="1">
                <a:solidFill>
                  <a:srgbClr val="A4480A"/>
                </a:solidFill>
                <a:latin typeface="Noto Sans CJK KR"/>
              </a:defRPr>
            </a:pPr>
            <a:r>
              <a:t>문제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62456" y="4599432"/>
            <a:ext cx="3300984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12" b="0">
                <a:solidFill>
                  <a:srgbClr val="5D7185"/>
                </a:solidFill>
                <a:latin typeface="Noto Sans CJK KR"/>
              </a:defRPr>
            </a:pPr>
            <a:r>
              <a:t>종이 영수증 분실·인원·사용사유 누락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" y="5239512"/>
            <a:ext cx="64008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96" b="1">
                <a:solidFill>
                  <a:srgbClr val="175EAF"/>
                </a:solidFill>
                <a:latin typeface="Noto Sans CJK KR"/>
              </a:defRPr>
            </a:pPr>
            <a:r>
              <a:t>적용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62456" y="5212080"/>
            <a:ext cx="3300984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12" b="1">
                <a:solidFill>
                  <a:srgbClr val="175EAF"/>
                </a:solidFill>
                <a:latin typeface="Noto Sans CJK KR"/>
              </a:defRPr>
            </a:pPr>
            <a:r>
              <a:t>Vision·Vertex AI 판독</a:t>
            </a:r>
          </a:p>
          <a:p>
            <a:pPr>
              <a:spcAft>
                <a:spcPts val="500"/>
              </a:spcAft>
              <a:defRPr sz="1512" b="1">
                <a:solidFill>
                  <a:srgbClr val="175EAF"/>
                </a:solidFill>
                <a:latin typeface="Noto Sans CJK KR"/>
              </a:defRPr>
            </a:pPr>
            <a:r>
              <a:t>+ Cloud 웹 개별 등록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6656" y="5998464"/>
            <a:ext cx="4078224" cy="1014984"/>
          </a:xfrm>
          <a:prstGeom prst="roundRect">
            <a:avLst/>
          </a:prstGeom>
          <a:solidFill>
            <a:srgbClr val="E6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6099048"/>
            <a:ext cx="3822191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43" b="1">
                <a:solidFill>
                  <a:srgbClr val="008F99"/>
                </a:solidFill>
                <a:latin typeface="Noto Sans CJK KR"/>
              </a:defRPr>
            </a:pPr>
            <a:r>
              <a:t>증빙·사용정보 연결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" y="6547104"/>
            <a:ext cx="382219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68" b="0">
                <a:solidFill>
                  <a:srgbClr val="152D46"/>
                </a:solidFill>
                <a:latin typeface="Noto Sans CJK KR"/>
              </a:defRPr>
            </a:pPr>
            <a:r>
              <a:t>사진과 사용정보를 함께 확인</a:t>
            </a:r>
          </a:p>
          <a:p>
            <a:pPr>
              <a:spcAft>
                <a:spcPts val="500"/>
              </a:spcAft>
              <a:defRPr sz="1368" b="0">
                <a:solidFill>
                  <a:srgbClr val="152D46"/>
                </a:solidFill>
                <a:latin typeface="Noto Sans CJK KR"/>
              </a:defRPr>
            </a:pPr>
            <a:r>
              <a:t>월말 재문의·확인 부담 완화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148072" y="3849624"/>
            <a:ext cx="4334256" cy="33009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148072" y="3849624"/>
            <a:ext cx="4334256" cy="45720"/>
          </a:xfrm>
          <a:prstGeom prst="rect">
            <a:avLst/>
          </a:prstGeom>
          <a:solidFill>
            <a:srgbClr val="008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67528" y="4023360"/>
            <a:ext cx="3895344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016" b="1">
                <a:solidFill>
                  <a:srgbClr val="152D46"/>
                </a:solidFill>
                <a:latin typeface="Noto Sans CJK KR"/>
              </a:defRPr>
            </a:pPr>
            <a:r>
              <a:t>02  현장 출입 신청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67528" y="4599432"/>
            <a:ext cx="64008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96" b="1">
                <a:solidFill>
                  <a:srgbClr val="A4480A"/>
                </a:solidFill>
                <a:latin typeface="Noto Sans CJK KR"/>
              </a:defRPr>
            </a:pPr>
            <a:r>
              <a:t>문제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61888" y="4599432"/>
            <a:ext cx="3300984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12" b="0">
                <a:solidFill>
                  <a:srgbClr val="5D7185"/>
                </a:solidFill>
                <a:latin typeface="Noto Sans CJK KR"/>
              </a:defRPr>
            </a:pPr>
            <a:r>
              <a:t>신청 창구 분산·방문자 확인 어려움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67528" y="5239512"/>
            <a:ext cx="64008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96" b="1">
                <a:solidFill>
                  <a:srgbClr val="175EAF"/>
                </a:solidFill>
                <a:latin typeface="Noto Sans CJK KR"/>
              </a:defRPr>
            </a:pPr>
            <a:r>
              <a:t>적용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61888" y="5212080"/>
            <a:ext cx="3300984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12" b="1">
                <a:solidFill>
                  <a:srgbClr val="175EAF"/>
                </a:solidFill>
                <a:latin typeface="Noto Sans CJK KR"/>
              </a:defRPr>
            </a:pPr>
            <a:r>
              <a:t>Cloud 웹 개별 신청</a:t>
            </a:r>
          </a:p>
          <a:p>
            <a:pPr>
              <a:spcAft>
                <a:spcPts val="500"/>
              </a:spcAft>
              <a:defRPr sz="1512" b="1">
                <a:solidFill>
                  <a:srgbClr val="175EAF"/>
                </a:solidFill>
                <a:latin typeface="Noto Sans CJK KR"/>
              </a:defRPr>
            </a:pPr>
            <a:r>
              <a:t>+ 관리팀 통합 조회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276088" y="5998464"/>
            <a:ext cx="4078224" cy="1014984"/>
          </a:xfrm>
          <a:prstGeom prst="roundRect">
            <a:avLst/>
          </a:prstGeom>
          <a:solidFill>
            <a:srgbClr val="E6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04104" y="6099048"/>
            <a:ext cx="3822191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43" b="1">
                <a:solidFill>
                  <a:srgbClr val="008F99"/>
                </a:solidFill>
                <a:latin typeface="Noto Sans CJK KR"/>
              </a:defRPr>
            </a:pPr>
            <a:r>
              <a:t>출입 신청 창구 통일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04104" y="6547104"/>
            <a:ext cx="382219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68" b="0">
                <a:solidFill>
                  <a:srgbClr val="152D46"/>
                </a:solidFill>
                <a:latin typeface="Noto Sans CJK KR"/>
              </a:defRPr>
            </a:pPr>
            <a:r>
              <a:t>각 팀의 신청을 한 화면에서 확인</a:t>
            </a:r>
          </a:p>
          <a:p>
            <a:pPr>
              <a:spcAft>
                <a:spcPts val="500"/>
              </a:spcAft>
              <a:defRPr sz="1368" b="0">
                <a:solidFill>
                  <a:srgbClr val="152D46"/>
                </a:solidFill>
                <a:latin typeface="Noto Sans CJK KR"/>
              </a:defRPr>
            </a:pPr>
            <a:r>
              <a:t>전달 혼선·재확인 감소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747504" y="3849624"/>
            <a:ext cx="4334256" cy="33009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747504" y="3849624"/>
            <a:ext cx="4334256" cy="45720"/>
          </a:xfrm>
          <a:prstGeom prst="rect">
            <a:avLst/>
          </a:prstGeom>
          <a:solidFill>
            <a:srgbClr val="008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966960" y="4023360"/>
            <a:ext cx="3895344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016" b="1">
                <a:solidFill>
                  <a:srgbClr val="152D46"/>
                </a:solidFill>
                <a:latin typeface="Noto Sans CJK KR"/>
              </a:defRPr>
            </a:pPr>
            <a:r>
              <a:t>03  식사 신청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66960" y="4599432"/>
            <a:ext cx="64008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96" b="1">
                <a:solidFill>
                  <a:srgbClr val="A4480A"/>
                </a:solidFill>
                <a:latin typeface="Noto Sans CJK KR"/>
              </a:defRPr>
            </a:pPr>
            <a:r>
              <a:t>문제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61320" y="4599432"/>
            <a:ext cx="3300984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12" b="0">
                <a:solidFill>
                  <a:srgbClr val="5D7185"/>
                </a:solidFill>
                <a:latin typeface="Noto Sans CJK KR"/>
              </a:defRPr>
            </a:pPr>
            <a:r>
              <a:t>휴가·출장·팀별 식수인원 수기 취합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66960" y="5239512"/>
            <a:ext cx="64008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96" b="1">
                <a:solidFill>
                  <a:srgbClr val="175EAF"/>
                </a:solidFill>
                <a:latin typeface="Noto Sans CJK KR"/>
              </a:defRPr>
            </a:pPr>
            <a:r>
              <a:t>적용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61320" y="5212080"/>
            <a:ext cx="3300984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12" b="1">
                <a:solidFill>
                  <a:srgbClr val="175EAF"/>
                </a:solidFill>
                <a:latin typeface="Noto Sans CJK KR"/>
              </a:defRPr>
            </a:pPr>
            <a:r>
              <a:t>Cloud 웹 직접 신청</a:t>
            </a:r>
          </a:p>
          <a:p>
            <a:pPr>
              <a:spcAft>
                <a:spcPts val="500"/>
              </a:spcAft>
              <a:defRPr sz="1512" b="1">
                <a:solidFill>
                  <a:srgbClr val="175EAF"/>
                </a:solidFill>
                <a:latin typeface="Noto Sans CJK KR"/>
              </a:defRPr>
            </a:pPr>
            <a:r>
              <a:t>+ 식당 관리자에게 식수 제출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875520" y="5998464"/>
            <a:ext cx="4078224" cy="1014984"/>
          </a:xfrm>
          <a:prstGeom prst="roundRect">
            <a:avLst/>
          </a:prstGeom>
          <a:solidFill>
            <a:srgbClr val="E6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003536" y="6099048"/>
            <a:ext cx="3822191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43" b="1">
                <a:solidFill>
                  <a:srgbClr val="008F99"/>
                </a:solidFill>
                <a:latin typeface="Noto Sans CJK KR"/>
              </a:defRPr>
            </a:pPr>
            <a:r>
              <a:t>식수 취합·전달 간소화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03536" y="6547104"/>
            <a:ext cx="382219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68" b="0">
                <a:solidFill>
                  <a:srgbClr val="152D46"/>
                </a:solidFill>
                <a:latin typeface="Noto Sans CJK KR"/>
              </a:defRPr>
            </a:pPr>
            <a:r>
              <a:t>직원이 직접 신청하고 식수 자동 제출</a:t>
            </a:r>
          </a:p>
          <a:p>
            <a:pPr>
              <a:spcAft>
                <a:spcPts val="500"/>
              </a:spcAft>
              <a:defRPr sz="1368" b="0">
                <a:solidFill>
                  <a:srgbClr val="152D46"/>
                </a:solidFill>
                <a:latin typeface="Noto Sans CJK KR"/>
              </a:defRPr>
            </a:pPr>
            <a:r>
              <a:t>개별 접수·재취합 부담 완화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7388352"/>
            <a:ext cx="13533120" cy="18288"/>
          </a:xfrm>
          <a:prstGeom prst="rect">
            <a:avLst/>
          </a:prstGeom>
          <a:solidFill>
            <a:srgbClr val="D7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7562088"/>
            <a:ext cx="1353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39" b="0">
                <a:solidFill>
                  <a:srgbClr val="5D7185"/>
                </a:solidFill>
                <a:latin typeface="Noto Sans CJK KR"/>
              </a:defRPr>
            </a:pPr>
            <a:r>
              <a:t>AI  영수증 정보를 읽고 정리하는 인공지능   |   Cloud  인터넷으로 접속해 정보를 저장·공유하는 환경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7973568"/>
            <a:ext cx="1280160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8" b="0">
                <a:solidFill>
                  <a:srgbClr val="5D7185"/>
                </a:solidFill>
                <a:latin typeface="Noto Sans CJK KR"/>
              </a:defRPr>
            </a:pPr>
            <a:r>
              <a:t>AI 도구로 구현 · Cloud로 운영  /  2026 BM 워크샵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3624560" y="7927848"/>
            <a:ext cx="457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39" b="1">
                <a:solidFill>
                  <a:srgbClr val="008F99"/>
                </a:solidFill>
                <a:latin typeface="Noto Sans CJK KR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