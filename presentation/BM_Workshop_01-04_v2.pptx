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장은 전체 발표의 안내도입니다. 이번 해커톤의 결과물은 new_meal(식사 신청), receipt(법인카드 영수증 관리), permit(현장 출입 신청)의 세 가지 시스템입니다. 포털은 참고 자료이며 발표 내용에 포함하지 않습니다. 포털의 공통 로그인, 시스템 간 데이터 자동 통합, ERP 자동 전표 연동을 구현했다는 뜻은 아닙니다. Cloud Vision과 Vertex AI 기반 자동 판독은 영수증 시스템 기능이며 식사·출입 시스템에도 AI 판독이 적용된 것으로 표현하지 않습니다. 세 결과물은 포털 소스의 연결 메뉴와 사용자가 첨부한 Codex 프로젝트 목록을 기준으로 정리했습니다. 식사·출입 시스템의 상세 내부 승인 기능은 확인하지 않아 기재하지 않았습니다. 효과는 추진 목적과 기대효과이며 시간 절감률은 실측하지 않았습니다. 2~4페이지는 기존 영수증 관리 설명으로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문제와 개선효과를 좌우로 연결해 설명합니다. AI는 사용자나 사용 목적을 추정하지 않습니다. 영수증 기본정보를 보조 입력하고 직원이 원본을 확인하며 사용정보를 보완합니다. 사진 등록이 종이 원본 보관 의무를 대체한다는 뜻은 아닙니다. 카드번호나 소유주 자동 인식은 확인된 핵심 자동입력 항목으로 제시하지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 설명: 촬영 직후 사진은 GCS에 업로드되고, Vision→Vertex로 판독한 값을 화면에 채웁니다. 직원이 원본을 대조하고 필수정보를 보완한 다음 최종 확인·등록합니다. 최종 등록 시 사진 파일명은 업체명_금액_일자로 정리되며 Firestore에는 파일명·객체 키와 입력 내역을 저장합니다. 읽지 못한 값은 직접 확인해 입력합니다. 현재 앱은 모든 등록 건에 사용자·인원·목적·장소를 필수로 요청하므로 첨부 지침의 최소 요구보다 넓게 적용합니다. 지침 제외대상은 출장정산·유형자산 등 별도 시스템에서 사용목적이 확인되는 처리 건입니다. 현재 관리자 공용 비밀번호는 README상 테스트용 화면 잠금이며 서버 인증을 대신하지 않습니다. Firestore 규칙과 인증 기반 권한 분리를 실운영 전 점검해야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인터넷 접속주소: https://receipt.sskim4912.workers.dev/ QR도 동일 주소입니다. 영수증 저장소 4f51c0ad 소스/동봉 빌드의 실제 UI를 로컬 실행하고 가상 데이터를 넣어 캡처했습니다. 운영 사이트는 작업 환경에서 HTTP 403으로 접근되지 않았습니다. 화면은 목업 디자인이 아니라 프로그램 UI지만 실서비스 통신·OCR·저장 성공을 검증한 자료는 아닙니다. 입력 예시는 홍길동, 워크샵식당, 120000원, 참석 4명, BM 워크샵 업무 협의 후 식대입니다. 필수입력 자동완성 캡처는 가상 수기 값이며 라이브 AI 실행 결과로 표현하지 마세요. 촬영 시연은 비민감 샘플 영수증 사용을 권장합니다. 운영 화면과 메뉴명이 달라지면 발표 전 실기기에서 재확인하세요.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4.xml"/><Relationship Id="rId7" Type="http://schemas.openxmlformats.org/officeDocument/2006/relationships/hyperlink" Target="https://receipt.sskim4912.workers.dev/"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229600"/>
          </a:xfrm>
          <a:prstGeom prst="rect">
            <a:avLst/>
          </a:prstGeom>
          <a:solidFill>
            <a:srgbClr val="008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85216" y="310896"/>
            <a:ext cx="12801600" cy="320040"/>
          </a:xfrm>
          <a:prstGeom prst="rect">
            <a:avLst/>
          </a:prstGeom>
          <a:noFill/>
        </p:spPr>
        <p:txBody>
          <a:bodyPr wrap="square" lIns="0" rIns="0" tIns="0" bIns="0">
            <a:spAutoFit/>
          </a:bodyPr>
          <a:lstStyle/>
          <a:p>
            <a:pPr>
              <a:spcAft>
                <a:spcPts val="500"/>
              </a:spcAft>
              <a:defRPr sz="1296" b="1">
                <a:solidFill>
                  <a:srgbClr val="008F99"/>
                </a:solidFill>
                <a:latin typeface="Noto Sans CJK KR"/>
              </a:defRPr>
            </a:pPr>
            <a:r>
              <a:t>01  /  OVERVIEW · 추진 배경과 해커톤 결과물</a:t>
            </a:r>
          </a:p>
        </p:txBody>
      </p:sp>
      <p:sp>
        <p:nvSpPr>
          <p:cNvPr id="5" name="TextBox 4"/>
          <p:cNvSpPr txBox="1"/>
          <p:nvPr/>
        </p:nvSpPr>
        <p:spPr>
          <a:xfrm>
            <a:off x="585216" y="768096"/>
            <a:ext cx="13459968" cy="640080"/>
          </a:xfrm>
          <a:prstGeom prst="rect">
            <a:avLst/>
          </a:prstGeom>
          <a:noFill/>
        </p:spPr>
        <p:txBody>
          <a:bodyPr wrap="square" lIns="0" rIns="0" tIns="0" bIns="0">
            <a:spAutoFit/>
          </a:bodyPr>
          <a:lstStyle/>
          <a:p>
            <a:pPr>
              <a:spcAft>
                <a:spcPts val="500"/>
              </a:spcAft>
              <a:defRPr sz="3095" b="1">
                <a:solidFill>
                  <a:srgbClr val="152D46"/>
                </a:solidFill>
                <a:latin typeface="Noto Sans CJK KR"/>
              </a:defRPr>
            </a:pPr>
            <a:r>
              <a:t>AI Cloud 기반 BM 업무 효율화</a:t>
            </a:r>
          </a:p>
        </p:txBody>
      </p:sp>
      <p:sp>
        <p:nvSpPr>
          <p:cNvPr id="6" name="TextBox 5"/>
          <p:cNvSpPr txBox="1"/>
          <p:nvPr/>
        </p:nvSpPr>
        <p:spPr>
          <a:xfrm>
            <a:off x="585216" y="1463040"/>
            <a:ext cx="13459968" cy="502920"/>
          </a:xfrm>
          <a:prstGeom prst="rect">
            <a:avLst/>
          </a:prstGeom>
          <a:noFill/>
        </p:spPr>
        <p:txBody>
          <a:bodyPr wrap="square" lIns="0" rIns="0" tIns="0" bIns="0">
            <a:spAutoFit/>
          </a:bodyPr>
          <a:lstStyle/>
          <a:p>
            <a:pPr>
              <a:spcAft>
                <a:spcPts val="500"/>
              </a:spcAft>
              <a:defRPr sz="1728" b="0">
                <a:solidFill>
                  <a:srgbClr val="5D7185"/>
                </a:solidFill>
                <a:latin typeface="Noto Sans CJK KR"/>
              </a:defRPr>
            </a:pPr>
            <a:r>
              <a:t>반복 입력·수정 후 재확인·취합과 송부를 줄여, BM의 중요한 업무에 집중합니다.</a:t>
            </a:r>
          </a:p>
        </p:txBody>
      </p:sp>
      <p:sp>
        <p:nvSpPr>
          <p:cNvPr id="7" name="TextBox 6"/>
          <p:cNvSpPr txBox="1"/>
          <p:nvPr/>
        </p:nvSpPr>
        <p:spPr>
          <a:xfrm>
            <a:off x="585216" y="7827264"/>
            <a:ext cx="12801600" cy="228600"/>
          </a:xfrm>
          <a:prstGeom prst="rect">
            <a:avLst/>
          </a:prstGeom>
          <a:noFill/>
        </p:spPr>
        <p:txBody>
          <a:bodyPr wrap="square" lIns="0" rIns="0" tIns="0" bIns="0">
            <a:spAutoFit/>
          </a:bodyPr>
          <a:lstStyle/>
          <a:p>
            <a:pPr>
              <a:spcAft>
                <a:spcPts val="500"/>
              </a:spcAft>
              <a:defRPr sz="1080" b="0">
                <a:solidFill>
                  <a:srgbClr val="5D7185"/>
                </a:solidFill>
                <a:latin typeface="Noto Sans CJK KR"/>
              </a:defRPr>
            </a:pPr>
            <a:r>
              <a:t>AURORA PROJECT  /  BM 업무 효율화 해커톤  /  2026.10.22–23</a:t>
            </a:r>
          </a:p>
        </p:txBody>
      </p:sp>
      <p:sp>
        <p:nvSpPr>
          <p:cNvPr id="8" name="TextBox 7"/>
          <p:cNvSpPr txBox="1"/>
          <p:nvPr/>
        </p:nvSpPr>
        <p:spPr>
          <a:xfrm>
            <a:off x="13487400" y="7772400"/>
            <a:ext cx="640080" cy="274320"/>
          </a:xfrm>
          <a:prstGeom prst="rect">
            <a:avLst/>
          </a:prstGeom>
          <a:noFill/>
        </p:spPr>
        <p:txBody>
          <a:bodyPr wrap="square" lIns="0" rIns="0" tIns="0" bIns="0">
            <a:spAutoFit/>
          </a:bodyPr>
          <a:lstStyle/>
          <a:p>
            <a:pPr>
              <a:spcAft>
                <a:spcPts val="500"/>
              </a:spcAft>
              <a:defRPr sz="1224" b="1">
                <a:solidFill>
                  <a:srgbClr val="008F99"/>
                </a:solidFill>
                <a:latin typeface="Noto Sans CJK KR"/>
              </a:defRPr>
            </a:pPr>
            <a:r>
              <a:t>01 / 04</a:t>
            </a:r>
          </a:p>
        </p:txBody>
      </p:sp>
      <p:sp>
        <p:nvSpPr>
          <p:cNvPr id="9" name="Rounded Rectangle 8"/>
          <p:cNvSpPr/>
          <p:nvPr/>
        </p:nvSpPr>
        <p:spPr>
          <a:xfrm>
            <a:off x="585216" y="2103120"/>
            <a:ext cx="13459968" cy="566928"/>
          </a:xfrm>
          <a:prstGeom prst="roundRect">
            <a:avLst/>
          </a:prstGeom>
          <a:solidFill>
            <a:srgbClr val="15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221992"/>
            <a:ext cx="12893040" cy="347472"/>
          </a:xfrm>
          <a:prstGeom prst="rect">
            <a:avLst/>
          </a:prstGeom>
          <a:noFill/>
        </p:spPr>
        <p:txBody>
          <a:bodyPr wrap="square" lIns="0" rIns="0" tIns="0" bIns="0">
            <a:spAutoFit/>
          </a:bodyPr>
          <a:lstStyle/>
          <a:p>
            <a:pPr>
              <a:spcAft>
                <a:spcPts val="500"/>
              </a:spcAft>
              <a:defRPr sz="2016" b="1">
                <a:solidFill>
                  <a:srgbClr val="FFFFFF"/>
                </a:solidFill>
                <a:latin typeface="Noto Sans CJK KR"/>
              </a:defRPr>
            </a:pPr>
            <a:r>
              <a:t>이번 해커톤의 결과물 3가지  |  식사 신청 · 영수증 관리 · 현장 출입 신청</a:t>
            </a:r>
          </a:p>
        </p:txBody>
      </p:sp>
      <p:sp>
        <p:nvSpPr>
          <p:cNvPr id="11" name="Rounded Rectangle 10"/>
          <p:cNvSpPr/>
          <p:nvPr/>
        </p:nvSpPr>
        <p:spPr>
          <a:xfrm>
            <a:off x="585216" y="2852928"/>
            <a:ext cx="4297680" cy="2834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999232"/>
            <a:ext cx="502920" cy="320040"/>
          </a:xfrm>
          <a:prstGeom prst="rect">
            <a:avLst/>
          </a:prstGeom>
          <a:noFill/>
        </p:spPr>
        <p:txBody>
          <a:bodyPr wrap="square" lIns="0" rIns="0" tIns="0" bIns="0">
            <a:spAutoFit/>
          </a:bodyPr>
          <a:lstStyle/>
          <a:p>
            <a:pPr>
              <a:spcAft>
                <a:spcPts val="500"/>
              </a:spcAft>
              <a:defRPr sz="1943" b="1">
                <a:solidFill>
                  <a:srgbClr val="008F99"/>
                </a:solidFill>
                <a:latin typeface="Noto Sans CJK KR"/>
              </a:defRPr>
            </a:pPr>
            <a:r>
              <a:t>01</a:t>
            </a:r>
          </a:p>
        </p:txBody>
      </p:sp>
      <p:sp>
        <p:nvSpPr>
          <p:cNvPr id="13" name="TextBox 12"/>
          <p:cNvSpPr txBox="1"/>
          <p:nvPr/>
        </p:nvSpPr>
        <p:spPr>
          <a:xfrm>
            <a:off x="822960" y="3410712"/>
            <a:ext cx="3822191" cy="411480"/>
          </a:xfrm>
          <a:prstGeom prst="rect">
            <a:avLst/>
          </a:prstGeom>
          <a:noFill/>
        </p:spPr>
        <p:txBody>
          <a:bodyPr wrap="square" lIns="0" rIns="0" tIns="0" bIns="0">
            <a:spAutoFit/>
          </a:bodyPr>
          <a:lstStyle/>
          <a:p>
            <a:pPr>
              <a:spcAft>
                <a:spcPts val="500"/>
              </a:spcAft>
              <a:defRPr sz="2088" b="1">
                <a:solidFill>
                  <a:srgbClr val="152D46"/>
                </a:solidFill>
                <a:latin typeface="Noto Sans CJK KR"/>
              </a:defRPr>
            </a:pPr>
            <a:r>
              <a:t>식사 신청 시스템</a:t>
            </a:r>
          </a:p>
        </p:txBody>
      </p:sp>
      <p:sp>
        <p:nvSpPr>
          <p:cNvPr id="14" name="TextBox 13"/>
          <p:cNvSpPr txBox="1"/>
          <p:nvPr/>
        </p:nvSpPr>
        <p:spPr>
          <a:xfrm>
            <a:off x="822960" y="3877056"/>
            <a:ext cx="3822191" cy="310896"/>
          </a:xfrm>
          <a:prstGeom prst="rect">
            <a:avLst/>
          </a:prstGeom>
          <a:noFill/>
        </p:spPr>
        <p:txBody>
          <a:bodyPr wrap="square" lIns="0" rIns="0" tIns="0" bIns="0">
            <a:spAutoFit/>
          </a:bodyPr>
          <a:lstStyle/>
          <a:p>
            <a:pPr>
              <a:spcAft>
                <a:spcPts val="500"/>
              </a:spcAft>
              <a:defRPr sz="1728" b="1">
                <a:solidFill>
                  <a:srgbClr val="008F99"/>
                </a:solidFill>
                <a:latin typeface="Noto Sans CJK KR"/>
              </a:defRPr>
            </a:pPr>
            <a:r>
              <a:t>식사 수요를 온라인으로 모으기</a:t>
            </a:r>
          </a:p>
        </p:txBody>
      </p:sp>
      <p:sp>
        <p:nvSpPr>
          <p:cNvPr id="15" name="TextBox 14"/>
          <p:cNvSpPr txBox="1"/>
          <p:nvPr/>
        </p:nvSpPr>
        <p:spPr>
          <a:xfrm>
            <a:off x="822960" y="4288536"/>
            <a:ext cx="3822191" cy="548640"/>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조식·중식·석식 신청 및 내역 확인</a:t>
            </a:r>
          </a:p>
        </p:txBody>
      </p:sp>
      <p:sp>
        <p:nvSpPr>
          <p:cNvPr id="16" name="TextBox 15"/>
          <p:cNvSpPr txBox="1"/>
          <p:nvPr/>
        </p:nvSpPr>
        <p:spPr>
          <a:xfrm>
            <a:off x="822960" y="4937760"/>
            <a:ext cx="3822191" cy="274320"/>
          </a:xfrm>
          <a:prstGeom prst="rect">
            <a:avLst/>
          </a:prstGeom>
          <a:noFill/>
        </p:spPr>
        <p:txBody>
          <a:bodyPr wrap="square" lIns="0" rIns="0" tIns="0" bIns="0">
            <a:spAutoFit/>
          </a:bodyPr>
          <a:lstStyle/>
          <a:p>
            <a:pPr>
              <a:spcAft>
                <a:spcPts val="500"/>
              </a:spcAft>
              <a:defRPr sz="1439" b="0">
                <a:solidFill>
                  <a:srgbClr val="5D7185"/>
                </a:solidFill>
                <a:latin typeface="Noto Sans CJK KR"/>
              </a:defRPr>
            </a:pPr>
            <a:r>
              <a:t>줄일 낭비  신청 내용 개별 접수·재취합</a:t>
            </a:r>
          </a:p>
        </p:txBody>
      </p:sp>
      <p:sp>
        <p:nvSpPr>
          <p:cNvPr id="17" name="TextBox 16"/>
          <p:cNvSpPr txBox="1"/>
          <p:nvPr/>
        </p:nvSpPr>
        <p:spPr>
          <a:xfrm>
            <a:off x="822960" y="5285232"/>
            <a:ext cx="3822191" cy="310896"/>
          </a:xfrm>
          <a:prstGeom prst="rect">
            <a:avLst/>
          </a:prstGeom>
          <a:noFill/>
        </p:spPr>
        <p:txBody>
          <a:bodyPr wrap="square" lIns="0" rIns="0" tIns="0" bIns="0">
            <a:spAutoFit/>
          </a:bodyPr>
          <a:lstStyle/>
          <a:p>
            <a:pPr>
              <a:spcAft>
                <a:spcPts val="500"/>
              </a:spcAft>
              <a:defRPr sz="1439" b="1">
                <a:solidFill>
                  <a:srgbClr val="152D46"/>
                </a:solidFill>
                <a:latin typeface="Noto Sans CJK KR"/>
              </a:defRPr>
            </a:pPr>
            <a:r>
              <a:t>한곳에서 신청하고 내역 확인</a:t>
            </a:r>
          </a:p>
        </p:txBody>
      </p:sp>
      <p:sp>
        <p:nvSpPr>
          <p:cNvPr id="18" name="Rounded Rectangle 17"/>
          <p:cNvSpPr/>
          <p:nvPr/>
        </p:nvSpPr>
        <p:spPr>
          <a:xfrm>
            <a:off x="5166360" y="2852928"/>
            <a:ext cx="4297680" cy="2834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04104" y="2999232"/>
            <a:ext cx="502920" cy="320040"/>
          </a:xfrm>
          <a:prstGeom prst="rect">
            <a:avLst/>
          </a:prstGeom>
          <a:noFill/>
        </p:spPr>
        <p:txBody>
          <a:bodyPr wrap="square" lIns="0" rIns="0" tIns="0" bIns="0">
            <a:spAutoFit/>
          </a:bodyPr>
          <a:lstStyle/>
          <a:p>
            <a:pPr>
              <a:spcAft>
                <a:spcPts val="500"/>
              </a:spcAft>
              <a:defRPr sz="1943" b="1">
                <a:solidFill>
                  <a:srgbClr val="008F99"/>
                </a:solidFill>
                <a:latin typeface="Noto Sans CJK KR"/>
              </a:defRPr>
            </a:pPr>
            <a:r>
              <a:t>02</a:t>
            </a:r>
          </a:p>
        </p:txBody>
      </p:sp>
      <p:sp>
        <p:nvSpPr>
          <p:cNvPr id="20" name="TextBox 19"/>
          <p:cNvSpPr txBox="1"/>
          <p:nvPr/>
        </p:nvSpPr>
        <p:spPr>
          <a:xfrm>
            <a:off x="5404104" y="3410712"/>
            <a:ext cx="3822191" cy="411480"/>
          </a:xfrm>
          <a:prstGeom prst="rect">
            <a:avLst/>
          </a:prstGeom>
          <a:noFill/>
        </p:spPr>
        <p:txBody>
          <a:bodyPr wrap="square" lIns="0" rIns="0" tIns="0" bIns="0">
            <a:spAutoFit/>
          </a:bodyPr>
          <a:lstStyle/>
          <a:p>
            <a:pPr>
              <a:spcAft>
                <a:spcPts val="500"/>
              </a:spcAft>
              <a:defRPr sz="2088" b="1">
                <a:solidFill>
                  <a:srgbClr val="152D46"/>
                </a:solidFill>
                <a:latin typeface="Noto Sans CJK KR"/>
              </a:defRPr>
            </a:pPr>
            <a:r>
              <a:t>법인카드 영수증 관리</a:t>
            </a:r>
          </a:p>
        </p:txBody>
      </p:sp>
      <p:sp>
        <p:nvSpPr>
          <p:cNvPr id="21" name="TextBox 20"/>
          <p:cNvSpPr txBox="1"/>
          <p:nvPr/>
        </p:nvSpPr>
        <p:spPr>
          <a:xfrm>
            <a:off x="5404104" y="3877056"/>
            <a:ext cx="3822191" cy="310896"/>
          </a:xfrm>
          <a:prstGeom prst="rect">
            <a:avLst/>
          </a:prstGeom>
          <a:noFill/>
        </p:spPr>
        <p:txBody>
          <a:bodyPr wrap="square" lIns="0" rIns="0" tIns="0" bIns="0">
            <a:spAutoFit/>
          </a:bodyPr>
          <a:lstStyle/>
          <a:p>
            <a:pPr>
              <a:spcAft>
                <a:spcPts val="500"/>
              </a:spcAft>
              <a:defRPr sz="1728" b="1">
                <a:solidFill>
                  <a:srgbClr val="008F99"/>
                </a:solidFill>
                <a:latin typeface="Noto Sans CJK KR"/>
              </a:defRPr>
            </a:pPr>
            <a:r>
              <a:t>사진을 관리 가능한 데이터로</a:t>
            </a:r>
          </a:p>
        </p:txBody>
      </p:sp>
      <p:sp>
        <p:nvSpPr>
          <p:cNvPr id="22" name="TextBox 21"/>
          <p:cNvSpPr txBox="1"/>
          <p:nvPr/>
        </p:nvSpPr>
        <p:spPr>
          <a:xfrm>
            <a:off x="5404104" y="4288536"/>
            <a:ext cx="3822191" cy="548640"/>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촬영 → AI 판독 → 사용정보 → 관리자 확인</a:t>
            </a:r>
          </a:p>
        </p:txBody>
      </p:sp>
      <p:sp>
        <p:nvSpPr>
          <p:cNvPr id="23" name="TextBox 22"/>
          <p:cNvSpPr txBox="1"/>
          <p:nvPr/>
        </p:nvSpPr>
        <p:spPr>
          <a:xfrm>
            <a:off x="5404104" y="4937760"/>
            <a:ext cx="3822191" cy="274320"/>
          </a:xfrm>
          <a:prstGeom prst="rect">
            <a:avLst/>
          </a:prstGeom>
          <a:noFill/>
        </p:spPr>
        <p:txBody>
          <a:bodyPr wrap="square" lIns="0" rIns="0" tIns="0" bIns="0">
            <a:spAutoFit/>
          </a:bodyPr>
          <a:lstStyle/>
          <a:p>
            <a:pPr>
              <a:spcAft>
                <a:spcPts val="500"/>
              </a:spcAft>
              <a:defRPr sz="1439" b="0">
                <a:solidFill>
                  <a:srgbClr val="5D7185"/>
                </a:solidFill>
                <a:latin typeface="Noto Sans CJK KR"/>
              </a:defRPr>
            </a:pPr>
            <a:r>
              <a:t>줄일 낭비  기본정보 재입력·사용 사유 재문의</a:t>
            </a:r>
          </a:p>
        </p:txBody>
      </p:sp>
      <p:sp>
        <p:nvSpPr>
          <p:cNvPr id="24" name="TextBox 23"/>
          <p:cNvSpPr txBox="1"/>
          <p:nvPr/>
        </p:nvSpPr>
        <p:spPr>
          <a:xfrm>
            <a:off x="5404104" y="5285232"/>
            <a:ext cx="3822191" cy="310896"/>
          </a:xfrm>
          <a:prstGeom prst="rect">
            <a:avLst/>
          </a:prstGeom>
          <a:noFill/>
        </p:spPr>
        <p:txBody>
          <a:bodyPr wrap="square" lIns="0" rIns="0" tIns="0" bIns="0">
            <a:spAutoFit/>
          </a:bodyPr>
          <a:lstStyle/>
          <a:p>
            <a:pPr>
              <a:spcAft>
                <a:spcPts val="500"/>
              </a:spcAft>
              <a:defRPr sz="1439" b="1">
                <a:solidFill>
                  <a:srgbClr val="152D46"/>
                </a:solidFill>
                <a:latin typeface="Noto Sans CJK KR"/>
              </a:defRPr>
            </a:pPr>
            <a:r>
              <a:t>원본·사용정보 연결, 확인·취합 부담 완화</a:t>
            </a:r>
          </a:p>
        </p:txBody>
      </p:sp>
      <p:sp>
        <p:nvSpPr>
          <p:cNvPr id="25" name="Rounded Rectangle 24"/>
          <p:cNvSpPr/>
          <p:nvPr/>
        </p:nvSpPr>
        <p:spPr>
          <a:xfrm>
            <a:off x="9747504" y="2852928"/>
            <a:ext cx="4297680" cy="2834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985248" y="2999232"/>
            <a:ext cx="502920" cy="320040"/>
          </a:xfrm>
          <a:prstGeom prst="rect">
            <a:avLst/>
          </a:prstGeom>
          <a:noFill/>
        </p:spPr>
        <p:txBody>
          <a:bodyPr wrap="square" lIns="0" rIns="0" tIns="0" bIns="0">
            <a:spAutoFit/>
          </a:bodyPr>
          <a:lstStyle/>
          <a:p>
            <a:pPr>
              <a:spcAft>
                <a:spcPts val="500"/>
              </a:spcAft>
              <a:defRPr sz="1943" b="1">
                <a:solidFill>
                  <a:srgbClr val="008F99"/>
                </a:solidFill>
                <a:latin typeface="Noto Sans CJK KR"/>
              </a:defRPr>
            </a:pPr>
            <a:r>
              <a:t>03</a:t>
            </a:r>
          </a:p>
        </p:txBody>
      </p:sp>
      <p:sp>
        <p:nvSpPr>
          <p:cNvPr id="27" name="TextBox 26"/>
          <p:cNvSpPr txBox="1"/>
          <p:nvPr/>
        </p:nvSpPr>
        <p:spPr>
          <a:xfrm>
            <a:off x="9985248" y="3410712"/>
            <a:ext cx="3822191" cy="411480"/>
          </a:xfrm>
          <a:prstGeom prst="rect">
            <a:avLst/>
          </a:prstGeom>
          <a:noFill/>
        </p:spPr>
        <p:txBody>
          <a:bodyPr wrap="square" lIns="0" rIns="0" tIns="0" bIns="0">
            <a:spAutoFit/>
          </a:bodyPr>
          <a:lstStyle/>
          <a:p>
            <a:pPr>
              <a:spcAft>
                <a:spcPts val="500"/>
              </a:spcAft>
              <a:defRPr sz="2088" b="1">
                <a:solidFill>
                  <a:srgbClr val="152D46"/>
                </a:solidFill>
                <a:latin typeface="Noto Sans CJK KR"/>
              </a:defRPr>
            </a:pPr>
            <a:r>
              <a:t>현장 출입 신청 시스템</a:t>
            </a:r>
          </a:p>
        </p:txBody>
      </p:sp>
      <p:sp>
        <p:nvSpPr>
          <p:cNvPr id="28" name="TextBox 27"/>
          <p:cNvSpPr txBox="1"/>
          <p:nvPr/>
        </p:nvSpPr>
        <p:spPr>
          <a:xfrm>
            <a:off x="9985248" y="3877056"/>
            <a:ext cx="3822191" cy="310896"/>
          </a:xfrm>
          <a:prstGeom prst="rect">
            <a:avLst/>
          </a:prstGeom>
          <a:noFill/>
        </p:spPr>
        <p:txBody>
          <a:bodyPr wrap="square" lIns="0" rIns="0" tIns="0" bIns="0">
            <a:spAutoFit/>
          </a:bodyPr>
          <a:lstStyle/>
          <a:p>
            <a:pPr>
              <a:spcAft>
                <a:spcPts val="500"/>
              </a:spcAft>
              <a:defRPr sz="1728" b="1">
                <a:solidFill>
                  <a:srgbClr val="008F99"/>
                </a:solidFill>
                <a:latin typeface="Noto Sans CJK KR"/>
              </a:defRPr>
            </a:pPr>
            <a:r>
              <a:t>방문·출입 신청 창구 통일</a:t>
            </a:r>
          </a:p>
        </p:txBody>
      </p:sp>
      <p:sp>
        <p:nvSpPr>
          <p:cNvPr id="29" name="TextBox 28"/>
          <p:cNvSpPr txBox="1"/>
          <p:nvPr/>
        </p:nvSpPr>
        <p:spPr>
          <a:xfrm>
            <a:off x="9985248" y="4288536"/>
            <a:ext cx="3822191" cy="548640"/>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방문 및 현장 출입 온라인 신청</a:t>
            </a:r>
          </a:p>
        </p:txBody>
      </p:sp>
      <p:sp>
        <p:nvSpPr>
          <p:cNvPr id="30" name="TextBox 29"/>
          <p:cNvSpPr txBox="1"/>
          <p:nvPr/>
        </p:nvSpPr>
        <p:spPr>
          <a:xfrm>
            <a:off x="9985248" y="4937760"/>
            <a:ext cx="3822191" cy="274320"/>
          </a:xfrm>
          <a:prstGeom prst="rect">
            <a:avLst/>
          </a:prstGeom>
          <a:noFill/>
        </p:spPr>
        <p:txBody>
          <a:bodyPr wrap="square" lIns="0" rIns="0" tIns="0" bIns="0">
            <a:spAutoFit/>
          </a:bodyPr>
          <a:lstStyle/>
          <a:p>
            <a:pPr>
              <a:spcAft>
                <a:spcPts val="500"/>
              </a:spcAft>
              <a:defRPr sz="1439" b="0">
                <a:solidFill>
                  <a:srgbClr val="5D7185"/>
                </a:solidFill>
                <a:latin typeface="Noto Sans CJK KR"/>
              </a:defRPr>
            </a:pPr>
            <a:r>
              <a:t>줄일 낭비  신청정보 반복 전달·누락 재확인</a:t>
            </a:r>
          </a:p>
        </p:txBody>
      </p:sp>
      <p:sp>
        <p:nvSpPr>
          <p:cNvPr id="31" name="TextBox 30"/>
          <p:cNvSpPr txBox="1"/>
          <p:nvPr/>
        </p:nvSpPr>
        <p:spPr>
          <a:xfrm>
            <a:off x="9985248" y="5285232"/>
            <a:ext cx="3822191" cy="310896"/>
          </a:xfrm>
          <a:prstGeom prst="rect">
            <a:avLst/>
          </a:prstGeom>
          <a:noFill/>
        </p:spPr>
        <p:txBody>
          <a:bodyPr wrap="square" lIns="0" rIns="0" tIns="0" bIns="0">
            <a:spAutoFit/>
          </a:bodyPr>
          <a:lstStyle/>
          <a:p>
            <a:pPr>
              <a:spcAft>
                <a:spcPts val="500"/>
              </a:spcAft>
              <a:defRPr sz="1439" b="1">
                <a:solidFill>
                  <a:srgbClr val="152D46"/>
                </a:solidFill>
                <a:latin typeface="Noto Sans CJK KR"/>
              </a:defRPr>
            </a:pPr>
            <a:r>
              <a:t>신청 경로 통일, 전달 과정의 혼선 감소</a:t>
            </a:r>
          </a:p>
        </p:txBody>
      </p:sp>
      <p:sp>
        <p:nvSpPr>
          <p:cNvPr id="32" name="Rounded Rectangle 31"/>
          <p:cNvSpPr/>
          <p:nvPr/>
        </p:nvSpPr>
        <p:spPr>
          <a:xfrm>
            <a:off x="585216" y="5907024"/>
            <a:ext cx="13459968" cy="987552"/>
          </a:xfrm>
          <a:prstGeom prst="roundRect">
            <a:avLst/>
          </a:prstGeom>
          <a:solidFill>
            <a:srgbClr val="E5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6016752"/>
            <a:ext cx="12938760" cy="310896"/>
          </a:xfrm>
          <a:prstGeom prst="rect">
            <a:avLst/>
          </a:prstGeom>
          <a:noFill/>
        </p:spPr>
        <p:txBody>
          <a:bodyPr wrap="square" lIns="0" rIns="0" tIns="0" bIns="0">
            <a:spAutoFit/>
          </a:bodyPr>
          <a:lstStyle/>
          <a:p>
            <a:pPr>
              <a:spcAft>
                <a:spcPts val="500"/>
              </a:spcAft>
              <a:defRPr sz="1800" b="1">
                <a:solidFill>
                  <a:srgbClr val="152D46"/>
                </a:solidFill>
                <a:latin typeface="Noto Sans CJK KR"/>
              </a:defRPr>
            </a:pPr>
            <a:r>
              <a:t>공통으로 없애고 싶은 낭비요소</a:t>
            </a:r>
          </a:p>
        </p:txBody>
      </p:sp>
      <p:sp>
        <p:nvSpPr>
          <p:cNvPr id="34" name="TextBox 33"/>
          <p:cNvSpPr txBox="1"/>
          <p:nvPr/>
        </p:nvSpPr>
        <p:spPr>
          <a:xfrm>
            <a:off x="822960" y="6446520"/>
            <a:ext cx="12938760" cy="310896"/>
          </a:xfrm>
          <a:prstGeom prst="rect">
            <a:avLst/>
          </a:prstGeom>
          <a:noFill/>
        </p:spPr>
        <p:txBody>
          <a:bodyPr wrap="square" lIns="0" rIns="0" tIns="0" bIns="0">
            <a:spAutoFit/>
          </a:bodyPr>
          <a:lstStyle/>
          <a:p>
            <a:pPr>
              <a:spcAft>
                <a:spcPts val="500"/>
              </a:spcAft>
              <a:defRPr sz="1655" b="0">
                <a:solidFill>
                  <a:srgbClr val="5D7185"/>
                </a:solidFill>
                <a:latin typeface="Noto Sans CJK KR"/>
              </a:defRPr>
            </a:pPr>
            <a:r>
              <a:t>반복 입력  같은 정보 다시 쓰기     |     재확인  수정·누락을 전화로 확인     |     취합·송부  파일을 따로 모아 전달</a:t>
            </a:r>
          </a:p>
        </p:txBody>
      </p:sp>
      <p:sp>
        <p:nvSpPr>
          <p:cNvPr id="35" name="TextBox 34"/>
          <p:cNvSpPr txBox="1"/>
          <p:nvPr/>
        </p:nvSpPr>
        <p:spPr>
          <a:xfrm>
            <a:off x="585216" y="7141464"/>
            <a:ext cx="13459968" cy="384048"/>
          </a:xfrm>
          <a:prstGeom prst="rect">
            <a:avLst/>
          </a:prstGeom>
          <a:noFill/>
        </p:spPr>
        <p:txBody>
          <a:bodyPr wrap="square" lIns="0" rIns="0" tIns="0" bIns="0">
            <a:spAutoFit/>
          </a:bodyPr>
          <a:lstStyle/>
          <a:p>
            <a:pPr>
              <a:spcAft>
                <a:spcPts val="500"/>
              </a:spcAft>
              <a:defRPr sz="1800" b="1">
                <a:solidFill>
                  <a:srgbClr val="008F99"/>
                </a:solidFill>
                <a:latin typeface="Noto Sans CJK KR"/>
              </a:defRPr>
            </a:pPr>
            <a:r>
              <a:t>직원은 한 번에 기록  →  관리팀은 확인·처리에 집중  →  BM은 판단과 현장 지원에 집중</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229600"/>
          </a:xfrm>
          <a:prstGeom prst="rect">
            <a:avLst/>
          </a:prstGeom>
          <a:solidFill>
            <a:srgbClr val="008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85216" y="310896"/>
            <a:ext cx="12801600" cy="320040"/>
          </a:xfrm>
          <a:prstGeom prst="rect">
            <a:avLst/>
          </a:prstGeom>
          <a:noFill/>
        </p:spPr>
        <p:txBody>
          <a:bodyPr wrap="square" lIns="0" rIns="0" tIns="0" bIns="0">
            <a:spAutoFit/>
          </a:bodyPr>
          <a:lstStyle/>
          <a:p>
            <a:pPr>
              <a:spcAft>
                <a:spcPts val="500"/>
              </a:spcAft>
              <a:defRPr sz="1296" b="1">
                <a:solidFill>
                  <a:srgbClr val="008F99"/>
                </a:solidFill>
                <a:latin typeface="Noto Sans CJK KR"/>
              </a:defRPr>
            </a:pPr>
            <a:r>
              <a:t>02  /  PROBLEM → SOLUTION → IMPACT</a:t>
            </a:r>
          </a:p>
        </p:txBody>
      </p:sp>
      <p:sp>
        <p:nvSpPr>
          <p:cNvPr id="5" name="TextBox 4"/>
          <p:cNvSpPr txBox="1"/>
          <p:nvPr/>
        </p:nvSpPr>
        <p:spPr>
          <a:xfrm>
            <a:off x="585216" y="768096"/>
            <a:ext cx="13459968" cy="640080"/>
          </a:xfrm>
          <a:prstGeom prst="rect">
            <a:avLst/>
          </a:prstGeom>
          <a:noFill/>
        </p:spPr>
        <p:txBody>
          <a:bodyPr wrap="square" lIns="0" rIns="0" tIns="0" bIns="0">
            <a:spAutoFit/>
          </a:bodyPr>
          <a:lstStyle/>
          <a:p>
            <a:pPr>
              <a:spcAft>
                <a:spcPts val="500"/>
              </a:spcAft>
              <a:defRPr sz="3095" b="1">
                <a:solidFill>
                  <a:srgbClr val="152D46"/>
                </a:solidFill>
                <a:latin typeface="Noto Sans CJK KR"/>
              </a:defRPr>
            </a:pPr>
            <a:r>
              <a:t>법인카드 영수증, 월말 추적에서 사용 직후 기록으로</a:t>
            </a:r>
          </a:p>
        </p:txBody>
      </p:sp>
      <p:sp>
        <p:nvSpPr>
          <p:cNvPr id="6" name="TextBox 5"/>
          <p:cNvSpPr txBox="1"/>
          <p:nvPr/>
        </p:nvSpPr>
        <p:spPr>
          <a:xfrm>
            <a:off x="585216" y="1463040"/>
            <a:ext cx="13459968" cy="502920"/>
          </a:xfrm>
          <a:prstGeom prst="rect">
            <a:avLst/>
          </a:prstGeom>
          <a:noFill/>
        </p:spPr>
        <p:txBody>
          <a:bodyPr wrap="square" lIns="0" rIns="0" tIns="0" bIns="0">
            <a:spAutoFit/>
          </a:bodyPr>
          <a:lstStyle/>
          <a:p>
            <a:pPr>
              <a:spcAft>
                <a:spcPts val="500"/>
              </a:spcAft>
              <a:defRPr sz="1728" b="0">
                <a:solidFill>
                  <a:srgbClr val="5D7185"/>
                </a:solidFill>
                <a:latin typeface="Noto Sans CJK KR"/>
              </a:defRPr>
            </a:pPr>
            <a:r>
              <a:t>Google Cloud Vision · Vertex AI를 활용한 법인카드 영수증 관리 시스템</a:t>
            </a:r>
          </a:p>
        </p:txBody>
      </p:sp>
      <p:sp>
        <p:nvSpPr>
          <p:cNvPr id="7" name="TextBox 6"/>
          <p:cNvSpPr txBox="1"/>
          <p:nvPr/>
        </p:nvSpPr>
        <p:spPr>
          <a:xfrm>
            <a:off x="585216" y="7827264"/>
            <a:ext cx="12801600" cy="228600"/>
          </a:xfrm>
          <a:prstGeom prst="rect">
            <a:avLst/>
          </a:prstGeom>
          <a:noFill/>
        </p:spPr>
        <p:txBody>
          <a:bodyPr wrap="square" lIns="0" rIns="0" tIns="0" bIns="0">
            <a:spAutoFit/>
          </a:bodyPr>
          <a:lstStyle/>
          <a:p>
            <a:pPr>
              <a:spcAft>
                <a:spcPts val="500"/>
              </a:spcAft>
              <a:defRPr sz="1080" b="0">
                <a:solidFill>
                  <a:srgbClr val="5D7185"/>
                </a:solidFill>
                <a:latin typeface="Noto Sans CJK KR"/>
              </a:defRPr>
            </a:pPr>
            <a:r>
              <a:t>AURORA PROJECT  /  BM 업무 효율화 해커톤  /  2026.10.22–23</a:t>
            </a:r>
          </a:p>
        </p:txBody>
      </p:sp>
      <p:sp>
        <p:nvSpPr>
          <p:cNvPr id="8" name="TextBox 7"/>
          <p:cNvSpPr txBox="1"/>
          <p:nvPr/>
        </p:nvSpPr>
        <p:spPr>
          <a:xfrm>
            <a:off x="13487400" y="7772400"/>
            <a:ext cx="640080" cy="274320"/>
          </a:xfrm>
          <a:prstGeom prst="rect">
            <a:avLst/>
          </a:prstGeom>
          <a:noFill/>
        </p:spPr>
        <p:txBody>
          <a:bodyPr wrap="square" lIns="0" rIns="0" tIns="0" bIns="0">
            <a:spAutoFit/>
          </a:bodyPr>
          <a:lstStyle/>
          <a:p>
            <a:pPr>
              <a:spcAft>
                <a:spcPts val="500"/>
              </a:spcAft>
              <a:defRPr sz="1224" b="1">
                <a:solidFill>
                  <a:srgbClr val="008F99"/>
                </a:solidFill>
                <a:latin typeface="Noto Sans CJK KR"/>
              </a:defRPr>
            </a:pPr>
            <a:r>
              <a:t>02 / 04</a:t>
            </a:r>
          </a:p>
        </p:txBody>
      </p:sp>
      <p:sp>
        <p:nvSpPr>
          <p:cNvPr id="9" name="Rounded Rectangle 8"/>
          <p:cNvSpPr/>
          <p:nvPr/>
        </p:nvSpPr>
        <p:spPr>
          <a:xfrm>
            <a:off x="585216" y="2212848"/>
            <a:ext cx="4297680" cy="3931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5216" y="2212848"/>
            <a:ext cx="4297680" cy="73152"/>
          </a:xfrm>
          <a:prstGeom prst="rect">
            <a:avLst/>
          </a:prstGeom>
          <a:solidFill>
            <a:srgbClr val="D77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2505456"/>
            <a:ext cx="3785615" cy="411480"/>
          </a:xfrm>
          <a:prstGeom prst="rect">
            <a:avLst/>
          </a:prstGeom>
          <a:noFill/>
        </p:spPr>
        <p:txBody>
          <a:bodyPr wrap="square" lIns="0" rIns="0" tIns="0" bIns="0">
            <a:spAutoFit/>
          </a:bodyPr>
          <a:lstStyle/>
          <a:p>
            <a:pPr>
              <a:spcAft>
                <a:spcPts val="500"/>
              </a:spcAft>
              <a:defRPr sz="2160" b="1">
                <a:solidFill>
                  <a:srgbClr val="D77424"/>
                </a:solidFill>
                <a:latin typeface="Noto Sans CJK KR"/>
              </a:defRPr>
            </a:pPr>
            <a:r>
              <a:t>현재의 문제</a:t>
            </a:r>
          </a:p>
        </p:txBody>
      </p:sp>
      <p:sp>
        <p:nvSpPr>
          <p:cNvPr id="12" name="Rounded Rectangle 11"/>
          <p:cNvSpPr/>
          <p:nvPr/>
        </p:nvSpPr>
        <p:spPr>
          <a:xfrm>
            <a:off x="5166360" y="2212848"/>
            <a:ext cx="4297680" cy="3931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66360" y="2212848"/>
            <a:ext cx="4297680" cy="73152"/>
          </a:xfrm>
          <a:prstGeom prst="rect">
            <a:avLst/>
          </a:prstGeom>
          <a:solidFill>
            <a:srgbClr val="175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22392" y="2505456"/>
            <a:ext cx="3785615" cy="411480"/>
          </a:xfrm>
          <a:prstGeom prst="rect">
            <a:avLst/>
          </a:prstGeom>
          <a:noFill/>
        </p:spPr>
        <p:txBody>
          <a:bodyPr wrap="square" lIns="0" rIns="0" tIns="0" bIns="0">
            <a:spAutoFit/>
          </a:bodyPr>
          <a:lstStyle/>
          <a:p>
            <a:pPr>
              <a:spcAft>
                <a:spcPts val="500"/>
              </a:spcAft>
              <a:defRPr sz="2160" b="1">
                <a:solidFill>
                  <a:srgbClr val="175EAF"/>
                </a:solidFill>
                <a:latin typeface="Noto Sans CJK KR"/>
              </a:defRPr>
            </a:pPr>
            <a:r>
              <a:t>구현한 개선 방식</a:t>
            </a:r>
          </a:p>
        </p:txBody>
      </p:sp>
      <p:sp>
        <p:nvSpPr>
          <p:cNvPr id="15" name="Rounded Rectangle 14"/>
          <p:cNvSpPr/>
          <p:nvPr/>
        </p:nvSpPr>
        <p:spPr>
          <a:xfrm>
            <a:off x="9747504" y="2212848"/>
            <a:ext cx="4297680" cy="3931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747504" y="2212848"/>
            <a:ext cx="4297680" cy="73152"/>
          </a:xfrm>
          <a:prstGeom prst="rect">
            <a:avLst/>
          </a:prstGeom>
          <a:solidFill>
            <a:srgbClr val="008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03536" y="2505456"/>
            <a:ext cx="3785615" cy="411480"/>
          </a:xfrm>
          <a:prstGeom prst="rect">
            <a:avLst/>
          </a:prstGeom>
          <a:noFill/>
        </p:spPr>
        <p:txBody>
          <a:bodyPr wrap="square" lIns="0" rIns="0" tIns="0" bIns="0">
            <a:spAutoFit/>
          </a:bodyPr>
          <a:lstStyle/>
          <a:p>
            <a:pPr>
              <a:spcAft>
                <a:spcPts val="500"/>
              </a:spcAft>
              <a:defRPr sz="2160" b="1">
                <a:solidFill>
                  <a:srgbClr val="008F99"/>
                </a:solidFill>
                <a:latin typeface="Noto Sans CJK KR"/>
              </a:defRPr>
            </a:pPr>
            <a:r>
              <a:t>기대되는 효과</a:t>
            </a:r>
          </a:p>
        </p:txBody>
      </p:sp>
      <p:sp>
        <p:nvSpPr>
          <p:cNvPr id="18" name="TextBox 17"/>
          <p:cNvSpPr txBox="1"/>
          <p:nvPr/>
        </p:nvSpPr>
        <p:spPr>
          <a:xfrm>
            <a:off x="841248" y="3200400"/>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기록 없는 종이 제출</a:t>
            </a:r>
          </a:p>
        </p:txBody>
      </p:sp>
      <p:sp>
        <p:nvSpPr>
          <p:cNvPr id="19" name="TextBox 18"/>
          <p:cNvSpPr txBox="1"/>
          <p:nvPr/>
        </p:nvSpPr>
        <p:spPr>
          <a:xfrm>
            <a:off x="841248" y="3566160"/>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사용자·사유가 빠진 채 영수증만 전달</a:t>
            </a:r>
          </a:p>
        </p:txBody>
      </p:sp>
      <p:sp>
        <p:nvSpPr>
          <p:cNvPr id="20" name="TextBox 19"/>
          <p:cNvSpPr txBox="1"/>
          <p:nvPr/>
        </p:nvSpPr>
        <p:spPr>
          <a:xfrm>
            <a:off x="841248" y="4078224"/>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월말에야 분실 확인</a:t>
            </a:r>
          </a:p>
        </p:txBody>
      </p:sp>
      <p:sp>
        <p:nvSpPr>
          <p:cNvPr id="21" name="TextBox 20"/>
          <p:cNvSpPr txBox="1"/>
          <p:nvPr/>
        </p:nvSpPr>
        <p:spPr>
          <a:xfrm>
            <a:off x="841248" y="4443984"/>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바쁜 시기에 카드 소유주에게 재문의</a:t>
            </a:r>
          </a:p>
        </p:txBody>
      </p:sp>
      <p:sp>
        <p:nvSpPr>
          <p:cNvPr id="22" name="TextBox 21"/>
          <p:cNvSpPr txBox="1"/>
          <p:nvPr/>
        </p:nvSpPr>
        <p:spPr>
          <a:xfrm>
            <a:off x="841248" y="4956048"/>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수기 취합과 재확인</a:t>
            </a:r>
          </a:p>
        </p:txBody>
      </p:sp>
      <p:sp>
        <p:nvSpPr>
          <p:cNvPr id="23" name="TextBox 22"/>
          <p:cNvSpPr txBox="1"/>
          <p:nvPr/>
        </p:nvSpPr>
        <p:spPr>
          <a:xfrm>
            <a:off x="841248" y="5321808"/>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원본·사용정보·처리현황을 따로 관리</a:t>
            </a:r>
          </a:p>
        </p:txBody>
      </p:sp>
      <p:sp>
        <p:nvSpPr>
          <p:cNvPr id="24" name="TextBox 23"/>
          <p:cNvSpPr txBox="1"/>
          <p:nvPr/>
        </p:nvSpPr>
        <p:spPr>
          <a:xfrm>
            <a:off x="5422392" y="3200400"/>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촬영하면 기본정보 입력</a:t>
            </a:r>
          </a:p>
        </p:txBody>
      </p:sp>
      <p:sp>
        <p:nvSpPr>
          <p:cNvPr id="25" name="TextBox 24"/>
          <p:cNvSpPr txBox="1"/>
          <p:nvPr/>
        </p:nvSpPr>
        <p:spPr>
          <a:xfrm>
            <a:off x="5422392" y="3566160"/>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업체명·금액·사용일자·주소 인식</a:t>
            </a:r>
          </a:p>
        </p:txBody>
      </p:sp>
      <p:sp>
        <p:nvSpPr>
          <p:cNvPr id="26" name="TextBox 25"/>
          <p:cNvSpPr txBox="1"/>
          <p:nvPr/>
        </p:nvSpPr>
        <p:spPr>
          <a:xfrm>
            <a:off x="5422392" y="4078224"/>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필수 사용정보 보완</a:t>
            </a:r>
          </a:p>
        </p:txBody>
      </p:sp>
      <p:sp>
        <p:nvSpPr>
          <p:cNvPr id="27" name="TextBox 26"/>
          <p:cNvSpPr txBox="1"/>
          <p:nvPr/>
        </p:nvSpPr>
        <p:spPr>
          <a:xfrm>
            <a:off x="5422392" y="4443984"/>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실제 사용자·인원·목적·장소 확인</a:t>
            </a:r>
          </a:p>
        </p:txBody>
      </p:sp>
      <p:sp>
        <p:nvSpPr>
          <p:cNvPr id="28" name="TextBox 27"/>
          <p:cNvSpPr txBox="1"/>
          <p:nvPr/>
        </p:nvSpPr>
        <p:spPr>
          <a:xfrm>
            <a:off x="5422392" y="4956048"/>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확인 후 등록·관리</a:t>
            </a:r>
          </a:p>
        </p:txBody>
      </p:sp>
      <p:sp>
        <p:nvSpPr>
          <p:cNvPr id="29" name="TextBox 28"/>
          <p:cNvSpPr txBox="1"/>
          <p:nvPr/>
        </p:nvSpPr>
        <p:spPr>
          <a:xfrm>
            <a:off x="5422392" y="5321808"/>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원본 사진과 입력 내역을 연결해 보관</a:t>
            </a:r>
          </a:p>
        </p:txBody>
      </p:sp>
      <p:sp>
        <p:nvSpPr>
          <p:cNvPr id="30" name="TextBox 29"/>
          <p:cNvSpPr txBox="1"/>
          <p:nvPr/>
        </p:nvSpPr>
        <p:spPr>
          <a:xfrm>
            <a:off x="10003536" y="3200400"/>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분실 위험 최소화</a:t>
            </a:r>
          </a:p>
        </p:txBody>
      </p:sp>
      <p:sp>
        <p:nvSpPr>
          <p:cNvPr id="31" name="TextBox 30"/>
          <p:cNvSpPr txBox="1"/>
          <p:nvPr/>
        </p:nvSpPr>
        <p:spPr>
          <a:xfrm>
            <a:off x="10003536" y="3566160"/>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사용 직후 사진을 남겨 증빙 확보</a:t>
            </a:r>
          </a:p>
        </p:txBody>
      </p:sp>
      <p:sp>
        <p:nvSpPr>
          <p:cNvPr id="32" name="TextBox 31"/>
          <p:cNvSpPr txBox="1"/>
          <p:nvPr/>
        </p:nvSpPr>
        <p:spPr>
          <a:xfrm>
            <a:off x="10003536" y="4078224"/>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확인 전화 감소</a:t>
            </a:r>
          </a:p>
        </p:txBody>
      </p:sp>
      <p:sp>
        <p:nvSpPr>
          <p:cNvPr id="33" name="TextBox 32"/>
          <p:cNvSpPr txBox="1"/>
          <p:nvPr/>
        </p:nvSpPr>
        <p:spPr>
          <a:xfrm>
            <a:off x="10003536" y="4443984"/>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누가·몇 명·왜 사용했는지 조회</a:t>
            </a:r>
          </a:p>
        </p:txBody>
      </p:sp>
      <p:sp>
        <p:nvSpPr>
          <p:cNvPr id="34" name="TextBox 33"/>
          <p:cNvSpPr txBox="1"/>
          <p:nvPr/>
        </p:nvSpPr>
        <p:spPr>
          <a:xfrm>
            <a:off x="10003536" y="4956048"/>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월말 취합 부담 완화</a:t>
            </a:r>
          </a:p>
        </p:txBody>
      </p:sp>
      <p:sp>
        <p:nvSpPr>
          <p:cNvPr id="35" name="TextBox 34"/>
          <p:cNvSpPr txBox="1"/>
          <p:nvPr/>
        </p:nvSpPr>
        <p:spPr>
          <a:xfrm>
            <a:off x="10003536" y="5321808"/>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검색·처리상태 관리·CSV 다운로드</a:t>
            </a:r>
          </a:p>
        </p:txBody>
      </p:sp>
      <p:sp>
        <p:nvSpPr>
          <p:cNvPr id="36" name="Rounded Rectangle 35"/>
          <p:cNvSpPr/>
          <p:nvPr/>
        </p:nvSpPr>
        <p:spPr>
          <a:xfrm>
            <a:off x="585216" y="6400800"/>
            <a:ext cx="13459968" cy="969264"/>
          </a:xfrm>
          <a:prstGeom prst="roundRect">
            <a:avLst/>
          </a:prstGeom>
          <a:solidFill>
            <a:srgbClr val="15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8" y="6565392"/>
            <a:ext cx="12874752" cy="320040"/>
          </a:xfrm>
          <a:prstGeom prst="rect">
            <a:avLst/>
          </a:prstGeom>
          <a:noFill/>
        </p:spPr>
        <p:txBody>
          <a:bodyPr wrap="square" lIns="0" rIns="0" tIns="0" bIns="0">
            <a:spAutoFit/>
          </a:bodyPr>
          <a:lstStyle/>
          <a:p>
            <a:pPr>
              <a:spcAft>
                <a:spcPts val="500"/>
              </a:spcAft>
              <a:defRPr sz="1728" b="1">
                <a:solidFill>
                  <a:srgbClr val="FFFFFF"/>
                </a:solidFill>
                <a:latin typeface="Noto Sans CJK KR"/>
              </a:defRPr>
            </a:pPr>
            <a:r>
              <a:t>효과 검증 기준  |  등록 1건 소요시간 · 재확인 전화 건수 · 월말 취합시간 · 증빙 누락 건수</a:t>
            </a:r>
          </a:p>
        </p:txBody>
      </p:sp>
      <p:sp>
        <p:nvSpPr>
          <p:cNvPr id="38" name="TextBox 37"/>
          <p:cNvSpPr txBox="1"/>
          <p:nvPr/>
        </p:nvSpPr>
        <p:spPr>
          <a:xfrm>
            <a:off x="841248" y="6949440"/>
            <a:ext cx="12874752" cy="292608"/>
          </a:xfrm>
          <a:prstGeom prst="rect">
            <a:avLst/>
          </a:prstGeom>
          <a:noFill/>
        </p:spPr>
        <p:txBody>
          <a:bodyPr wrap="square" lIns="0" rIns="0" tIns="0" bIns="0">
            <a:spAutoFit/>
          </a:bodyPr>
          <a:lstStyle/>
          <a:p>
            <a:pPr>
              <a:spcAft>
                <a:spcPts val="500"/>
              </a:spcAft>
              <a:defRPr sz="1439" b="0">
                <a:solidFill>
                  <a:srgbClr val="BFD8EC"/>
                </a:solidFill>
                <a:latin typeface="Noto Sans CJK KR"/>
              </a:defRPr>
            </a:pPr>
            <a:r>
              <a:t>기대효과이며 절감률·절감시간은 시범 운영 전후 동일 기준으로 측정합니다.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229600"/>
          </a:xfrm>
          <a:prstGeom prst="rect">
            <a:avLst/>
          </a:prstGeom>
          <a:solidFill>
            <a:srgbClr val="008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85216" y="310896"/>
            <a:ext cx="12801600" cy="320040"/>
          </a:xfrm>
          <a:prstGeom prst="rect">
            <a:avLst/>
          </a:prstGeom>
          <a:noFill/>
        </p:spPr>
        <p:txBody>
          <a:bodyPr wrap="square" lIns="0" rIns="0" tIns="0" bIns="0">
            <a:spAutoFit/>
          </a:bodyPr>
          <a:lstStyle/>
          <a:p>
            <a:pPr>
              <a:spcAft>
                <a:spcPts val="500"/>
              </a:spcAft>
              <a:defRPr sz="1296" b="1">
                <a:solidFill>
                  <a:srgbClr val="008F99"/>
                </a:solidFill>
                <a:latin typeface="Noto Sans CJK KR"/>
              </a:defRPr>
            </a:pPr>
            <a:r>
              <a:t>03  /  HOW · 운영 프로세스와 프로그램 구성</a:t>
            </a:r>
          </a:p>
        </p:txBody>
      </p:sp>
      <p:sp>
        <p:nvSpPr>
          <p:cNvPr id="5" name="TextBox 4"/>
          <p:cNvSpPr txBox="1"/>
          <p:nvPr/>
        </p:nvSpPr>
        <p:spPr>
          <a:xfrm>
            <a:off x="585216" y="768096"/>
            <a:ext cx="13459968" cy="640080"/>
          </a:xfrm>
          <a:prstGeom prst="rect">
            <a:avLst/>
          </a:prstGeom>
          <a:noFill/>
        </p:spPr>
        <p:txBody>
          <a:bodyPr wrap="square" lIns="0" rIns="0" tIns="0" bIns="0">
            <a:spAutoFit/>
          </a:bodyPr>
          <a:lstStyle/>
          <a:p>
            <a:pPr>
              <a:spcAft>
                <a:spcPts val="500"/>
              </a:spcAft>
              <a:defRPr sz="3095" b="1">
                <a:solidFill>
                  <a:srgbClr val="152D46"/>
                </a:solidFill>
                <a:latin typeface="Noto Sans CJK KR"/>
              </a:defRPr>
            </a:pPr>
            <a:r>
              <a:t>AI는 읽고, 직원은 확인하고, 관리팀은 처리합니다</a:t>
            </a:r>
          </a:p>
        </p:txBody>
      </p:sp>
      <p:sp>
        <p:nvSpPr>
          <p:cNvPr id="6" name="TextBox 5"/>
          <p:cNvSpPr txBox="1"/>
          <p:nvPr/>
        </p:nvSpPr>
        <p:spPr>
          <a:xfrm>
            <a:off x="585216" y="1463040"/>
            <a:ext cx="13459968" cy="502920"/>
          </a:xfrm>
          <a:prstGeom prst="rect">
            <a:avLst/>
          </a:prstGeom>
          <a:noFill/>
        </p:spPr>
        <p:txBody>
          <a:bodyPr wrap="square" lIns="0" rIns="0" tIns="0" bIns="0">
            <a:spAutoFit/>
          </a:bodyPr>
          <a:lstStyle/>
          <a:p>
            <a:pPr>
              <a:spcAft>
                <a:spcPts val="500"/>
              </a:spcAft>
              <a:defRPr sz="1728" b="0">
                <a:solidFill>
                  <a:srgbClr val="5D7185"/>
                </a:solidFill>
                <a:latin typeface="Noto Sans CJK KR"/>
              </a:defRPr>
            </a:pPr>
            <a:r>
              <a:t>촬영부터 관리까지 연결하되, 최종 입력과 처리 판단은 사람이 확인합니다.</a:t>
            </a:r>
          </a:p>
        </p:txBody>
      </p:sp>
      <p:sp>
        <p:nvSpPr>
          <p:cNvPr id="7" name="TextBox 6"/>
          <p:cNvSpPr txBox="1"/>
          <p:nvPr/>
        </p:nvSpPr>
        <p:spPr>
          <a:xfrm>
            <a:off x="585216" y="7827264"/>
            <a:ext cx="12801600" cy="228600"/>
          </a:xfrm>
          <a:prstGeom prst="rect">
            <a:avLst/>
          </a:prstGeom>
          <a:noFill/>
        </p:spPr>
        <p:txBody>
          <a:bodyPr wrap="square" lIns="0" rIns="0" tIns="0" bIns="0">
            <a:spAutoFit/>
          </a:bodyPr>
          <a:lstStyle/>
          <a:p>
            <a:pPr>
              <a:spcAft>
                <a:spcPts val="500"/>
              </a:spcAft>
              <a:defRPr sz="1080" b="0">
                <a:solidFill>
                  <a:srgbClr val="5D7185"/>
                </a:solidFill>
                <a:latin typeface="Noto Sans CJK KR"/>
              </a:defRPr>
            </a:pPr>
            <a:r>
              <a:t>AURORA PROJECT  /  BM 업무 효율화 해커톤  /  2026.10.22–23</a:t>
            </a:r>
          </a:p>
        </p:txBody>
      </p:sp>
      <p:sp>
        <p:nvSpPr>
          <p:cNvPr id="8" name="TextBox 7"/>
          <p:cNvSpPr txBox="1"/>
          <p:nvPr/>
        </p:nvSpPr>
        <p:spPr>
          <a:xfrm>
            <a:off x="13487400" y="7772400"/>
            <a:ext cx="640080" cy="274320"/>
          </a:xfrm>
          <a:prstGeom prst="rect">
            <a:avLst/>
          </a:prstGeom>
          <a:noFill/>
        </p:spPr>
        <p:txBody>
          <a:bodyPr wrap="square" lIns="0" rIns="0" tIns="0" bIns="0">
            <a:spAutoFit/>
          </a:bodyPr>
          <a:lstStyle/>
          <a:p>
            <a:pPr>
              <a:spcAft>
                <a:spcPts val="500"/>
              </a:spcAft>
              <a:defRPr sz="1224" b="1">
                <a:solidFill>
                  <a:srgbClr val="008F99"/>
                </a:solidFill>
                <a:latin typeface="Noto Sans CJK KR"/>
              </a:defRPr>
            </a:pPr>
            <a:r>
              <a:t>03 / 04</a:t>
            </a:r>
          </a:p>
        </p:txBody>
      </p:sp>
      <p:sp>
        <p:nvSpPr>
          <p:cNvPr id="9" name="Rounded Rectangle 8"/>
          <p:cNvSpPr/>
          <p:nvPr/>
        </p:nvSpPr>
        <p:spPr>
          <a:xfrm>
            <a:off x="585216" y="2231136"/>
            <a:ext cx="2029968"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359152"/>
            <a:ext cx="1691640" cy="274320"/>
          </a:xfrm>
          <a:prstGeom prst="rect">
            <a:avLst/>
          </a:prstGeom>
          <a:noFill/>
        </p:spPr>
        <p:txBody>
          <a:bodyPr wrap="square" lIns="0" rIns="0" tIns="0" bIns="0">
            <a:spAutoFit/>
          </a:bodyPr>
          <a:lstStyle/>
          <a:p>
            <a:pPr>
              <a:spcAft>
                <a:spcPts val="500"/>
              </a:spcAft>
              <a:defRPr sz="1584" b="1">
                <a:solidFill>
                  <a:srgbClr val="008F99"/>
                </a:solidFill>
                <a:latin typeface="Noto Sans CJK KR"/>
              </a:defRPr>
            </a:pPr>
            <a:r>
              <a:t>1</a:t>
            </a:r>
          </a:p>
        </p:txBody>
      </p:sp>
      <p:sp>
        <p:nvSpPr>
          <p:cNvPr id="11" name="TextBox 10"/>
          <p:cNvSpPr txBox="1"/>
          <p:nvPr/>
        </p:nvSpPr>
        <p:spPr>
          <a:xfrm>
            <a:off x="749808" y="2706624"/>
            <a:ext cx="1737360" cy="365760"/>
          </a:xfrm>
          <a:prstGeom prst="rect">
            <a:avLst/>
          </a:prstGeom>
          <a:noFill/>
        </p:spPr>
        <p:txBody>
          <a:bodyPr wrap="square" lIns="0" rIns="0" tIns="0" bIns="0">
            <a:spAutoFit/>
          </a:bodyPr>
          <a:lstStyle/>
          <a:p>
            <a:pPr>
              <a:spcAft>
                <a:spcPts val="500"/>
              </a:spcAft>
              <a:defRPr sz="1800" b="1">
                <a:solidFill>
                  <a:srgbClr val="152D46"/>
                </a:solidFill>
                <a:latin typeface="Noto Sans CJK KR"/>
              </a:defRPr>
            </a:pPr>
            <a:r>
              <a:t>사진 촬영</a:t>
            </a:r>
          </a:p>
        </p:txBody>
      </p:sp>
      <p:sp>
        <p:nvSpPr>
          <p:cNvPr id="12" name="TextBox 11"/>
          <p:cNvSpPr txBox="1"/>
          <p:nvPr/>
        </p:nvSpPr>
        <p:spPr>
          <a:xfrm>
            <a:off x="749808" y="3090672"/>
            <a:ext cx="1773936" cy="274320"/>
          </a:xfrm>
          <a:prstGeom prst="rect">
            <a:avLst/>
          </a:prstGeom>
          <a:noFill/>
        </p:spPr>
        <p:txBody>
          <a:bodyPr wrap="square" lIns="0" rIns="0" tIns="0" bIns="0">
            <a:spAutoFit/>
          </a:bodyPr>
          <a:lstStyle/>
          <a:p>
            <a:pPr>
              <a:spcAft>
                <a:spcPts val="500"/>
              </a:spcAft>
              <a:defRPr sz="1296" b="0">
                <a:solidFill>
                  <a:srgbClr val="5D7185"/>
                </a:solidFill>
                <a:latin typeface="Noto Sans CJK KR"/>
              </a:defRPr>
            </a:pPr>
            <a:r>
              <a:t>직원 · 모바일/PC</a:t>
            </a:r>
          </a:p>
        </p:txBody>
      </p:sp>
      <p:sp>
        <p:nvSpPr>
          <p:cNvPr id="13" name="TextBox 12"/>
          <p:cNvSpPr txBox="1"/>
          <p:nvPr/>
        </p:nvSpPr>
        <p:spPr>
          <a:xfrm>
            <a:off x="2651760" y="2660904"/>
            <a:ext cx="228600" cy="320040"/>
          </a:xfrm>
          <a:prstGeom prst="rect">
            <a:avLst/>
          </a:prstGeom>
          <a:noFill/>
        </p:spPr>
        <p:txBody>
          <a:bodyPr wrap="square" lIns="0" rIns="0" tIns="0" bIns="0">
            <a:spAutoFit/>
          </a:bodyPr>
          <a:lstStyle/>
          <a:p>
            <a:pPr>
              <a:spcAft>
                <a:spcPts val="500"/>
              </a:spcAft>
              <a:defRPr sz="1655" b="1">
                <a:solidFill>
                  <a:srgbClr val="008F99"/>
                </a:solidFill>
                <a:latin typeface="Noto Sans CJK KR"/>
              </a:defRPr>
            </a:pPr>
            <a:r>
              <a:t>→</a:t>
            </a:r>
          </a:p>
        </p:txBody>
      </p:sp>
      <p:sp>
        <p:nvSpPr>
          <p:cNvPr id="14" name="Rounded Rectangle 13"/>
          <p:cNvSpPr/>
          <p:nvPr/>
        </p:nvSpPr>
        <p:spPr>
          <a:xfrm>
            <a:off x="2871216" y="2231136"/>
            <a:ext cx="2029968" cy="1225296"/>
          </a:xfrm>
          <a:prstGeom prst="roundRect">
            <a:avLst/>
          </a:prstGeom>
          <a:solidFill>
            <a:srgbClr val="15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35808" y="2359152"/>
            <a:ext cx="1691640" cy="274320"/>
          </a:xfrm>
          <a:prstGeom prst="rect">
            <a:avLst/>
          </a:prstGeom>
          <a:noFill/>
        </p:spPr>
        <p:txBody>
          <a:bodyPr wrap="square" lIns="0" rIns="0" tIns="0" bIns="0">
            <a:spAutoFit/>
          </a:bodyPr>
          <a:lstStyle/>
          <a:p>
            <a:pPr>
              <a:spcAft>
                <a:spcPts val="500"/>
              </a:spcAft>
              <a:defRPr sz="1584" b="1">
                <a:solidFill>
                  <a:srgbClr val="69D6D6"/>
                </a:solidFill>
                <a:latin typeface="Noto Sans CJK KR"/>
              </a:defRPr>
            </a:pPr>
            <a:r>
              <a:t>2</a:t>
            </a:r>
          </a:p>
        </p:txBody>
      </p:sp>
      <p:sp>
        <p:nvSpPr>
          <p:cNvPr id="16" name="TextBox 15"/>
          <p:cNvSpPr txBox="1"/>
          <p:nvPr/>
        </p:nvSpPr>
        <p:spPr>
          <a:xfrm>
            <a:off x="3035808" y="2706624"/>
            <a:ext cx="1737360" cy="365760"/>
          </a:xfrm>
          <a:prstGeom prst="rect">
            <a:avLst/>
          </a:prstGeom>
          <a:noFill/>
        </p:spPr>
        <p:txBody>
          <a:bodyPr wrap="square" lIns="0" rIns="0" tIns="0" bIns="0">
            <a:spAutoFit/>
          </a:bodyPr>
          <a:lstStyle/>
          <a:p>
            <a:pPr>
              <a:spcAft>
                <a:spcPts val="500"/>
              </a:spcAft>
              <a:defRPr sz="1800" b="1">
                <a:solidFill>
                  <a:srgbClr val="FFFFFF"/>
                </a:solidFill>
                <a:latin typeface="Noto Sans CJK KR"/>
              </a:defRPr>
            </a:pPr>
            <a:r>
              <a:t>글자 인식</a:t>
            </a:r>
          </a:p>
        </p:txBody>
      </p:sp>
      <p:sp>
        <p:nvSpPr>
          <p:cNvPr id="17" name="TextBox 16"/>
          <p:cNvSpPr txBox="1"/>
          <p:nvPr/>
        </p:nvSpPr>
        <p:spPr>
          <a:xfrm>
            <a:off x="3035808" y="3090672"/>
            <a:ext cx="1773936" cy="274320"/>
          </a:xfrm>
          <a:prstGeom prst="rect">
            <a:avLst/>
          </a:prstGeom>
          <a:noFill/>
        </p:spPr>
        <p:txBody>
          <a:bodyPr wrap="square" lIns="0" rIns="0" tIns="0" bIns="0">
            <a:spAutoFit/>
          </a:bodyPr>
          <a:lstStyle/>
          <a:p>
            <a:pPr>
              <a:spcAft>
                <a:spcPts val="500"/>
              </a:spcAft>
              <a:defRPr sz="1296" b="0">
                <a:solidFill>
                  <a:srgbClr val="C5D9E9"/>
                </a:solidFill>
                <a:latin typeface="Noto Sans CJK KR"/>
              </a:defRPr>
            </a:pPr>
            <a:r>
              <a:t>Cloud Vision</a:t>
            </a:r>
          </a:p>
        </p:txBody>
      </p:sp>
      <p:sp>
        <p:nvSpPr>
          <p:cNvPr id="18" name="TextBox 17"/>
          <p:cNvSpPr txBox="1"/>
          <p:nvPr/>
        </p:nvSpPr>
        <p:spPr>
          <a:xfrm>
            <a:off x="4937760" y="2660904"/>
            <a:ext cx="228600" cy="320040"/>
          </a:xfrm>
          <a:prstGeom prst="rect">
            <a:avLst/>
          </a:prstGeom>
          <a:noFill/>
        </p:spPr>
        <p:txBody>
          <a:bodyPr wrap="square" lIns="0" rIns="0" tIns="0" bIns="0">
            <a:spAutoFit/>
          </a:bodyPr>
          <a:lstStyle/>
          <a:p>
            <a:pPr>
              <a:spcAft>
                <a:spcPts val="500"/>
              </a:spcAft>
              <a:defRPr sz="1655" b="1">
                <a:solidFill>
                  <a:srgbClr val="008F99"/>
                </a:solidFill>
                <a:latin typeface="Noto Sans CJK KR"/>
              </a:defRPr>
            </a:pPr>
            <a:r>
              <a:t>→</a:t>
            </a:r>
          </a:p>
        </p:txBody>
      </p:sp>
      <p:sp>
        <p:nvSpPr>
          <p:cNvPr id="19" name="Rounded Rectangle 18"/>
          <p:cNvSpPr/>
          <p:nvPr/>
        </p:nvSpPr>
        <p:spPr>
          <a:xfrm>
            <a:off x="5157216" y="2231136"/>
            <a:ext cx="2029968" cy="1225296"/>
          </a:xfrm>
          <a:prstGeom prst="roundRect">
            <a:avLst/>
          </a:prstGeom>
          <a:solidFill>
            <a:srgbClr val="15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21808" y="2359152"/>
            <a:ext cx="1691640" cy="274320"/>
          </a:xfrm>
          <a:prstGeom prst="rect">
            <a:avLst/>
          </a:prstGeom>
          <a:noFill/>
        </p:spPr>
        <p:txBody>
          <a:bodyPr wrap="square" lIns="0" rIns="0" tIns="0" bIns="0">
            <a:spAutoFit/>
          </a:bodyPr>
          <a:lstStyle/>
          <a:p>
            <a:pPr>
              <a:spcAft>
                <a:spcPts val="500"/>
              </a:spcAft>
              <a:defRPr sz="1584" b="1">
                <a:solidFill>
                  <a:srgbClr val="69D6D6"/>
                </a:solidFill>
                <a:latin typeface="Noto Sans CJK KR"/>
              </a:defRPr>
            </a:pPr>
            <a:r>
              <a:t>3</a:t>
            </a:r>
          </a:p>
        </p:txBody>
      </p:sp>
      <p:sp>
        <p:nvSpPr>
          <p:cNvPr id="21" name="TextBox 20"/>
          <p:cNvSpPr txBox="1"/>
          <p:nvPr/>
        </p:nvSpPr>
        <p:spPr>
          <a:xfrm>
            <a:off x="5321808" y="2706624"/>
            <a:ext cx="1737360" cy="365760"/>
          </a:xfrm>
          <a:prstGeom prst="rect">
            <a:avLst/>
          </a:prstGeom>
          <a:noFill/>
        </p:spPr>
        <p:txBody>
          <a:bodyPr wrap="square" lIns="0" rIns="0" tIns="0" bIns="0">
            <a:spAutoFit/>
          </a:bodyPr>
          <a:lstStyle/>
          <a:p>
            <a:pPr>
              <a:spcAft>
                <a:spcPts val="500"/>
              </a:spcAft>
              <a:defRPr sz="1800" b="1">
                <a:solidFill>
                  <a:srgbClr val="FFFFFF"/>
                </a:solidFill>
                <a:latin typeface="Noto Sans CJK KR"/>
              </a:defRPr>
            </a:pPr>
            <a:r>
              <a:t>항목 분류</a:t>
            </a:r>
          </a:p>
        </p:txBody>
      </p:sp>
      <p:sp>
        <p:nvSpPr>
          <p:cNvPr id="22" name="TextBox 21"/>
          <p:cNvSpPr txBox="1"/>
          <p:nvPr/>
        </p:nvSpPr>
        <p:spPr>
          <a:xfrm>
            <a:off x="5321808" y="3090672"/>
            <a:ext cx="1773936" cy="274320"/>
          </a:xfrm>
          <a:prstGeom prst="rect">
            <a:avLst/>
          </a:prstGeom>
          <a:noFill/>
        </p:spPr>
        <p:txBody>
          <a:bodyPr wrap="square" lIns="0" rIns="0" tIns="0" bIns="0">
            <a:spAutoFit/>
          </a:bodyPr>
          <a:lstStyle/>
          <a:p>
            <a:pPr>
              <a:spcAft>
                <a:spcPts val="500"/>
              </a:spcAft>
              <a:defRPr sz="1296" b="0">
                <a:solidFill>
                  <a:srgbClr val="C5D9E9"/>
                </a:solidFill>
                <a:latin typeface="Noto Sans CJK KR"/>
              </a:defRPr>
            </a:pPr>
            <a:r>
              <a:t>Vertex AI</a:t>
            </a:r>
          </a:p>
        </p:txBody>
      </p:sp>
      <p:sp>
        <p:nvSpPr>
          <p:cNvPr id="23" name="TextBox 22"/>
          <p:cNvSpPr txBox="1"/>
          <p:nvPr/>
        </p:nvSpPr>
        <p:spPr>
          <a:xfrm>
            <a:off x="7223760" y="2660904"/>
            <a:ext cx="228600" cy="320040"/>
          </a:xfrm>
          <a:prstGeom prst="rect">
            <a:avLst/>
          </a:prstGeom>
          <a:noFill/>
        </p:spPr>
        <p:txBody>
          <a:bodyPr wrap="square" lIns="0" rIns="0" tIns="0" bIns="0">
            <a:spAutoFit/>
          </a:bodyPr>
          <a:lstStyle/>
          <a:p>
            <a:pPr>
              <a:spcAft>
                <a:spcPts val="500"/>
              </a:spcAft>
              <a:defRPr sz="1655" b="1">
                <a:solidFill>
                  <a:srgbClr val="008F99"/>
                </a:solidFill>
                <a:latin typeface="Noto Sans CJK KR"/>
              </a:defRPr>
            </a:pPr>
            <a:r>
              <a:t>→</a:t>
            </a:r>
          </a:p>
        </p:txBody>
      </p:sp>
      <p:sp>
        <p:nvSpPr>
          <p:cNvPr id="24" name="Rounded Rectangle 23"/>
          <p:cNvSpPr/>
          <p:nvPr/>
        </p:nvSpPr>
        <p:spPr>
          <a:xfrm>
            <a:off x="7443216" y="2231136"/>
            <a:ext cx="2029968"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07808" y="2359152"/>
            <a:ext cx="1691640" cy="274320"/>
          </a:xfrm>
          <a:prstGeom prst="rect">
            <a:avLst/>
          </a:prstGeom>
          <a:noFill/>
        </p:spPr>
        <p:txBody>
          <a:bodyPr wrap="square" lIns="0" rIns="0" tIns="0" bIns="0">
            <a:spAutoFit/>
          </a:bodyPr>
          <a:lstStyle/>
          <a:p>
            <a:pPr>
              <a:spcAft>
                <a:spcPts val="500"/>
              </a:spcAft>
              <a:defRPr sz="1584" b="1">
                <a:solidFill>
                  <a:srgbClr val="008F99"/>
                </a:solidFill>
                <a:latin typeface="Noto Sans CJK KR"/>
              </a:defRPr>
            </a:pPr>
            <a:r>
              <a:t>4</a:t>
            </a:r>
          </a:p>
        </p:txBody>
      </p:sp>
      <p:sp>
        <p:nvSpPr>
          <p:cNvPr id="26" name="TextBox 25"/>
          <p:cNvSpPr txBox="1"/>
          <p:nvPr/>
        </p:nvSpPr>
        <p:spPr>
          <a:xfrm>
            <a:off x="7607808" y="2706624"/>
            <a:ext cx="1737360" cy="365760"/>
          </a:xfrm>
          <a:prstGeom prst="rect">
            <a:avLst/>
          </a:prstGeom>
          <a:noFill/>
        </p:spPr>
        <p:txBody>
          <a:bodyPr wrap="square" lIns="0" rIns="0" tIns="0" bIns="0">
            <a:spAutoFit/>
          </a:bodyPr>
          <a:lstStyle/>
          <a:p>
            <a:pPr>
              <a:spcAft>
                <a:spcPts val="500"/>
              </a:spcAft>
              <a:defRPr sz="1800" b="1">
                <a:solidFill>
                  <a:srgbClr val="152D46"/>
                </a:solidFill>
                <a:latin typeface="Noto Sans CJK KR"/>
              </a:defRPr>
            </a:pPr>
            <a:r>
              <a:t>확인·필수 입력</a:t>
            </a:r>
          </a:p>
        </p:txBody>
      </p:sp>
      <p:sp>
        <p:nvSpPr>
          <p:cNvPr id="27" name="TextBox 26"/>
          <p:cNvSpPr txBox="1"/>
          <p:nvPr/>
        </p:nvSpPr>
        <p:spPr>
          <a:xfrm>
            <a:off x="7607808" y="3090672"/>
            <a:ext cx="1773936" cy="274320"/>
          </a:xfrm>
          <a:prstGeom prst="rect">
            <a:avLst/>
          </a:prstGeom>
          <a:noFill/>
        </p:spPr>
        <p:txBody>
          <a:bodyPr wrap="square" lIns="0" rIns="0" tIns="0" bIns="0">
            <a:spAutoFit/>
          </a:bodyPr>
          <a:lstStyle/>
          <a:p>
            <a:pPr>
              <a:spcAft>
                <a:spcPts val="500"/>
              </a:spcAft>
              <a:defRPr sz="1296" b="0">
                <a:solidFill>
                  <a:srgbClr val="5D7185"/>
                </a:solidFill>
                <a:latin typeface="Noto Sans CJK KR"/>
              </a:defRPr>
            </a:pPr>
            <a:r>
              <a:t>직원 · 원본 대조</a:t>
            </a:r>
          </a:p>
        </p:txBody>
      </p:sp>
      <p:sp>
        <p:nvSpPr>
          <p:cNvPr id="28" name="TextBox 27"/>
          <p:cNvSpPr txBox="1"/>
          <p:nvPr/>
        </p:nvSpPr>
        <p:spPr>
          <a:xfrm>
            <a:off x="9509760" y="2660904"/>
            <a:ext cx="228600" cy="320040"/>
          </a:xfrm>
          <a:prstGeom prst="rect">
            <a:avLst/>
          </a:prstGeom>
          <a:noFill/>
        </p:spPr>
        <p:txBody>
          <a:bodyPr wrap="square" lIns="0" rIns="0" tIns="0" bIns="0">
            <a:spAutoFit/>
          </a:bodyPr>
          <a:lstStyle/>
          <a:p>
            <a:pPr>
              <a:spcAft>
                <a:spcPts val="500"/>
              </a:spcAft>
              <a:defRPr sz="1655" b="1">
                <a:solidFill>
                  <a:srgbClr val="008F99"/>
                </a:solidFill>
                <a:latin typeface="Noto Sans CJK KR"/>
              </a:defRPr>
            </a:pPr>
            <a:r>
              <a:t>→</a:t>
            </a:r>
          </a:p>
        </p:txBody>
      </p:sp>
      <p:sp>
        <p:nvSpPr>
          <p:cNvPr id="29" name="Rounded Rectangle 28"/>
          <p:cNvSpPr/>
          <p:nvPr/>
        </p:nvSpPr>
        <p:spPr>
          <a:xfrm>
            <a:off x="9729216" y="2231136"/>
            <a:ext cx="2029968"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93808" y="2359152"/>
            <a:ext cx="1691640" cy="274320"/>
          </a:xfrm>
          <a:prstGeom prst="rect">
            <a:avLst/>
          </a:prstGeom>
          <a:noFill/>
        </p:spPr>
        <p:txBody>
          <a:bodyPr wrap="square" lIns="0" rIns="0" tIns="0" bIns="0">
            <a:spAutoFit/>
          </a:bodyPr>
          <a:lstStyle/>
          <a:p>
            <a:pPr>
              <a:spcAft>
                <a:spcPts val="500"/>
              </a:spcAft>
              <a:defRPr sz="1584" b="1">
                <a:solidFill>
                  <a:srgbClr val="008F99"/>
                </a:solidFill>
                <a:latin typeface="Noto Sans CJK KR"/>
              </a:defRPr>
            </a:pPr>
            <a:r>
              <a:t>5</a:t>
            </a:r>
          </a:p>
        </p:txBody>
      </p:sp>
      <p:sp>
        <p:nvSpPr>
          <p:cNvPr id="31" name="TextBox 30"/>
          <p:cNvSpPr txBox="1"/>
          <p:nvPr/>
        </p:nvSpPr>
        <p:spPr>
          <a:xfrm>
            <a:off x="9893808" y="2706624"/>
            <a:ext cx="1737360" cy="365760"/>
          </a:xfrm>
          <a:prstGeom prst="rect">
            <a:avLst/>
          </a:prstGeom>
          <a:noFill/>
        </p:spPr>
        <p:txBody>
          <a:bodyPr wrap="square" lIns="0" rIns="0" tIns="0" bIns="0">
            <a:spAutoFit/>
          </a:bodyPr>
          <a:lstStyle/>
          <a:p>
            <a:pPr>
              <a:spcAft>
                <a:spcPts val="500"/>
              </a:spcAft>
              <a:defRPr sz="1800" b="1">
                <a:solidFill>
                  <a:srgbClr val="152D46"/>
                </a:solidFill>
                <a:latin typeface="Noto Sans CJK KR"/>
              </a:defRPr>
            </a:pPr>
            <a:r>
              <a:t>저장·내역 조회</a:t>
            </a:r>
          </a:p>
        </p:txBody>
      </p:sp>
      <p:sp>
        <p:nvSpPr>
          <p:cNvPr id="32" name="TextBox 31"/>
          <p:cNvSpPr txBox="1"/>
          <p:nvPr/>
        </p:nvSpPr>
        <p:spPr>
          <a:xfrm>
            <a:off x="9893808" y="3090672"/>
            <a:ext cx="1773936" cy="274320"/>
          </a:xfrm>
          <a:prstGeom prst="rect">
            <a:avLst/>
          </a:prstGeom>
          <a:noFill/>
        </p:spPr>
        <p:txBody>
          <a:bodyPr wrap="square" lIns="0" rIns="0" tIns="0" bIns="0">
            <a:spAutoFit/>
          </a:bodyPr>
          <a:lstStyle/>
          <a:p>
            <a:pPr>
              <a:spcAft>
                <a:spcPts val="500"/>
              </a:spcAft>
              <a:defRPr sz="1296" b="0">
                <a:solidFill>
                  <a:srgbClr val="5D7185"/>
                </a:solidFill>
                <a:latin typeface="Noto Sans CJK KR"/>
              </a:defRPr>
            </a:pPr>
            <a:r>
              <a:t>GCS · Firestore</a:t>
            </a:r>
          </a:p>
        </p:txBody>
      </p:sp>
      <p:sp>
        <p:nvSpPr>
          <p:cNvPr id="33" name="TextBox 32"/>
          <p:cNvSpPr txBox="1"/>
          <p:nvPr/>
        </p:nvSpPr>
        <p:spPr>
          <a:xfrm>
            <a:off x="11795760" y="2660904"/>
            <a:ext cx="228600" cy="320040"/>
          </a:xfrm>
          <a:prstGeom prst="rect">
            <a:avLst/>
          </a:prstGeom>
          <a:noFill/>
        </p:spPr>
        <p:txBody>
          <a:bodyPr wrap="square" lIns="0" rIns="0" tIns="0" bIns="0">
            <a:spAutoFit/>
          </a:bodyPr>
          <a:lstStyle/>
          <a:p>
            <a:pPr>
              <a:spcAft>
                <a:spcPts val="500"/>
              </a:spcAft>
              <a:defRPr sz="1655" b="1">
                <a:solidFill>
                  <a:srgbClr val="008F99"/>
                </a:solidFill>
                <a:latin typeface="Noto Sans CJK KR"/>
              </a:defRPr>
            </a:pPr>
            <a:r>
              <a:t>→</a:t>
            </a:r>
          </a:p>
        </p:txBody>
      </p:sp>
      <p:sp>
        <p:nvSpPr>
          <p:cNvPr id="34" name="Rounded Rectangle 33"/>
          <p:cNvSpPr/>
          <p:nvPr/>
        </p:nvSpPr>
        <p:spPr>
          <a:xfrm>
            <a:off x="12015216" y="2231136"/>
            <a:ext cx="2029968"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179808" y="2359152"/>
            <a:ext cx="1691640" cy="274320"/>
          </a:xfrm>
          <a:prstGeom prst="rect">
            <a:avLst/>
          </a:prstGeom>
          <a:noFill/>
        </p:spPr>
        <p:txBody>
          <a:bodyPr wrap="square" lIns="0" rIns="0" tIns="0" bIns="0">
            <a:spAutoFit/>
          </a:bodyPr>
          <a:lstStyle/>
          <a:p>
            <a:pPr>
              <a:spcAft>
                <a:spcPts val="500"/>
              </a:spcAft>
              <a:defRPr sz="1584" b="1">
                <a:solidFill>
                  <a:srgbClr val="008F99"/>
                </a:solidFill>
                <a:latin typeface="Noto Sans CJK KR"/>
              </a:defRPr>
            </a:pPr>
            <a:r>
              <a:t>6</a:t>
            </a:r>
          </a:p>
        </p:txBody>
      </p:sp>
      <p:sp>
        <p:nvSpPr>
          <p:cNvPr id="36" name="TextBox 35"/>
          <p:cNvSpPr txBox="1"/>
          <p:nvPr/>
        </p:nvSpPr>
        <p:spPr>
          <a:xfrm>
            <a:off x="12179808" y="2706624"/>
            <a:ext cx="1737360" cy="365760"/>
          </a:xfrm>
          <a:prstGeom prst="rect">
            <a:avLst/>
          </a:prstGeom>
          <a:noFill/>
        </p:spPr>
        <p:txBody>
          <a:bodyPr wrap="square" lIns="0" rIns="0" tIns="0" bIns="0">
            <a:spAutoFit/>
          </a:bodyPr>
          <a:lstStyle/>
          <a:p>
            <a:pPr>
              <a:spcAft>
                <a:spcPts val="500"/>
              </a:spcAft>
              <a:defRPr sz="1800" b="1">
                <a:solidFill>
                  <a:srgbClr val="152D46"/>
                </a:solidFill>
                <a:latin typeface="Noto Sans CJK KR"/>
              </a:defRPr>
            </a:pPr>
            <a:r>
              <a:t>검토·취합</a:t>
            </a:r>
          </a:p>
        </p:txBody>
      </p:sp>
      <p:sp>
        <p:nvSpPr>
          <p:cNvPr id="37" name="TextBox 36"/>
          <p:cNvSpPr txBox="1"/>
          <p:nvPr/>
        </p:nvSpPr>
        <p:spPr>
          <a:xfrm>
            <a:off x="12179808" y="3090672"/>
            <a:ext cx="1773936" cy="274320"/>
          </a:xfrm>
          <a:prstGeom prst="rect">
            <a:avLst/>
          </a:prstGeom>
          <a:noFill/>
        </p:spPr>
        <p:txBody>
          <a:bodyPr wrap="square" lIns="0" rIns="0" tIns="0" bIns="0">
            <a:spAutoFit/>
          </a:bodyPr>
          <a:lstStyle/>
          <a:p>
            <a:pPr>
              <a:spcAft>
                <a:spcPts val="500"/>
              </a:spcAft>
              <a:defRPr sz="1296" b="0">
                <a:solidFill>
                  <a:srgbClr val="5D7185"/>
                </a:solidFill>
                <a:latin typeface="Noto Sans CJK KR"/>
              </a:defRPr>
            </a:pPr>
            <a:r>
              <a:t>관리자 · CSV</a:t>
            </a:r>
          </a:p>
        </p:txBody>
      </p:sp>
      <p:sp>
        <p:nvSpPr>
          <p:cNvPr id="38" name="Rounded Rectangle 37"/>
          <p:cNvSpPr/>
          <p:nvPr/>
        </p:nvSpPr>
        <p:spPr>
          <a:xfrm>
            <a:off x="585216" y="3749039"/>
            <a:ext cx="4297680"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3950208"/>
            <a:ext cx="3822191" cy="365760"/>
          </a:xfrm>
          <a:prstGeom prst="rect">
            <a:avLst/>
          </a:prstGeom>
          <a:noFill/>
        </p:spPr>
        <p:txBody>
          <a:bodyPr wrap="square" lIns="0" rIns="0" tIns="0" bIns="0">
            <a:spAutoFit/>
          </a:bodyPr>
          <a:lstStyle/>
          <a:p>
            <a:pPr>
              <a:spcAft>
                <a:spcPts val="500"/>
              </a:spcAft>
              <a:defRPr sz="1943" b="1">
                <a:solidFill>
                  <a:srgbClr val="008F99"/>
                </a:solidFill>
                <a:latin typeface="Noto Sans CJK KR"/>
              </a:defRPr>
            </a:pPr>
            <a:r>
              <a:t>직원 프로그램</a:t>
            </a:r>
          </a:p>
        </p:txBody>
      </p:sp>
      <p:sp>
        <p:nvSpPr>
          <p:cNvPr id="40" name="TextBox 39"/>
          <p:cNvSpPr txBox="1"/>
          <p:nvPr/>
        </p:nvSpPr>
        <p:spPr>
          <a:xfrm>
            <a:off x="822960" y="4462272"/>
            <a:ext cx="3822191" cy="1243584"/>
          </a:xfrm>
          <a:prstGeom prst="rect">
            <a:avLst/>
          </a:prstGeom>
          <a:noFill/>
        </p:spPr>
        <p:txBody>
          <a:bodyPr wrap="square" lIns="0" rIns="0" tIns="0" bIns="0">
            <a:spAutoFit/>
          </a:bodyPr>
          <a:lstStyle/>
          <a:p>
            <a:pPr>
              <a:spcAft>
                <a:spcPts val="500"/>
              </a:spcAft>
              <a:defRPr sz="1584" b="0">
                <a:solidFill>
                  <a:srgbClr val="5D7185"/>
                </a:solidFill>
                <a:latin typeface="Noto Sans CJK KR"/>
              </a:defRPr>
            </a:pPr>
            <a:r>
              <a:t>영수증 촬영 · 기본정보 확인/수정</a:t>
            </a:r>
          </a:p>
          <a:p>
            <a:pPr>
              <a:spcAft>
                <a:spcPts val="500"/>
              </a:spcAft>
              <a:defRPr sz="1584" b="0">
                <a:solidFill>
                  <a:srgbClr val="5D7185"/>
                </a:solidFill>
                <a:latin typeface="Noto Sans CJK KR"/>
              </a:defRPr>
            </a:pPr>
            <a:r>
              <a:t>실제 사용자 · 참석 인원 · 목적 · 장소 입력</a:t>
            </a:r>
          </a:p>
          <a:p>
            <a:pPr>
              <a:spcAft>
                <a:spcPts val="500"/>
              </a:spcAft>
              <a:defRPr sz="1584" b="0">
                <a:solidFill>
                  <a:srgbClr val="5D7185"/>
                </a:solidFill>
                <a:latin typeface="Noto Sans CJK KR"/>
              </a:defRPr>
            </a:pPr>
            <a:r>
              <a:t>입력내용 확인 후 등록 · 본인 처리상태 조회</a:t>
            </a:r>
          </a:p>
        </p:txBody>
      </p:sp>
      <p:sp>
        <p:nvSpPr>
          <p:cNvPr id="41" name="Rounded Rectangle 40"/>
          <p:cNvSpPr/>
          <p:nvPr/>
        </p:nvSpPr>
        <p:spPr>
          <a:xfrm>
            <a:off x="5166360" y="3749039"/>
            <a:ext cx="4297680"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04104" y="3950208"/>
            <a:ext cx="3822191" cy="365760"/>
          </a:xfrm>
          <a:prstGeom prst="rect">
            <a:avLst/>
          </a:prstGeom>
          <a:noFill/>
        </p:spPr>
        <p:txBody>
          <a:bodyPr wrap="square" lIns="0" rIns="0" tIns="0" bIns="0">
            <a:spAutoFit/>
          </a:bodyPr>
          <a:lstStyle/>
          <a:p>
            <a:pPr>
              <a:spcAft>
                <a:spcPts val="500"/>
              </a:spcAft>
              <a:defRPr sz="1943" b="1">
                <a:solidFill>
                  <a:srgbClr val="008F99"/>
                </a:solidFill>
                <a:latin typeface="Noto Sans CJK KR"/>
              </a:defRPr>
            </a:pPr>
            <a:r>
              <a:t>AI·클라우드 처리</a:t>
            </a:r>
          </a:p>
        </p:txBody>
      </p:sp>
      <p:sp>
        <p:nvSpPr>
          <p:cNvPr id="43" name="TextBox 42"/>
          <p:cNvSpPr txBox="1"/>
          <p:nvPr/>
        </p:nvSpPr>
        <p:spPr>
          <a:xfrm>
            <a:off x="5404104" y="4462272"/>
            <a:ext cx="3822191" cy="1243584"/>
          </a:xfrm>
          <a:prstGeom prst="rect">
            <a:avLst/>
          </a:prstGeom>
          <a:noFill/>
        </p:spPr>
        <p:txBody>
          <a:bodyPr wrap="square" lIns="0" rIns="0" tIns="0" bIns="0">
            <a:spAutoFit/>
          </a:bodyPr>
          <a:lstStyle/>
          <a:p>
            <a:pPr>
              <a:spcAft>
                <a:spcPts val="500"/>
              </a:spcAft>
              <a:defRPr sz="1584" b="0">
                <a:solidFill>
                  <a:srgbClr val="5D7185"/>
                </a:solidFill>
                <a:latin typeface="Noto Sans CJK KR"/>
              </a:defRPr>
            </a:pPr>
            <a:r>
              <a:t>Vision: 영수증에서 글자 추출</a:t>
            </a:r>
          </a:p>
          <a:p>
            <a:pPr>
              <a:spcAft>
                <a:spcPts val="500"/>
              </a:spcAft>
              <a:defRPr sz="1584" b="0">
                <a:solidFill>
                  <a:srgbClr val="5D7185"/>
                </a:solidFill>
                <a:latin typeface="Noto Sans CJK KR"/>
              </a:defRPr>
            </a:pPr>
            <a:r>
              <a:t>Vertex AI: 업체명·일자·금액·주소 분류</a:t>
            </a:r>
          </a:p>
          <a:p>
            <a:pPr>
              <a:spcAft>
                <a:spcPts val="500"/>
              </a:spcAft>
              <a:defRPr sz="1584" b="0">
                <a:solidFill>
                  <a:srgbClr val="5D7185"/>
                </a:solidFill>
                <a:latin typeface="Noto Sans CJK KR"/>
              </a:defRPr>
            </a:pPr>
            <a:r>
              <a:t>GCS: 원본 사진 / Firestore: 내역·처리상태</a:t>
            </a:r>
          </a:p>
        </p:txBody>
      </p:sp>
      <p:sp>
        <p:nvSpPr>
          <p:cNvPr id="44" name="Rounded Rectangle 43"/>
          <p:cNvSpPr/>
          <p:nvPr/>
        </p:nvSpPr>
        <p:spPr>
          <a:xfrm>
            <a:off x="9747504" y="3749039"/>
            <a:ext cx="4297680"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985248" y="3950208"/>
            <a:ext cx="3822191" cy="365760"/>
          </a:xfrm>
          <a:prstGeom prst="rect">
            <a:avLst/>
          </a:prstGeom>
          <a:noFill/>
        </p:spPr>
        <p:txBody>
          <a:bodyPr wrap="square" lIns="0" rIns="0" tIns="0" bIns="0">
            <a:spAutoFit/>
          </a:bodyPr>
          <a:lstStyle/>
          <a:p>
            <a:pPr>
              <a:spcAft>
                <a:spcPts val="500"/>
              </a:spcAft>
              <a:defRPr sz="1943" b="1">
                <a:solidFill>
                  <a:srgbClr val="008F99"/>
                </a:solidFill>
                <a:latin typeface="Noto Sans CJK KR"/>
              </a:defRPr>
            </a:pPr>
            <a:r>
              <a:t>관리자 프로그램</a:t>
            </a:r>
          </a:p>
        </p:txBody>
      </p:sp>
      <p:sp>
        <p:nvSpPr>
          <p:cNvPr id="46" name="TextBox 45"/>
          <p:cNvSpPr txBox="1"/>
          <p:nvPr/>
        </p:nvSpPr>
        <p:spPr>
          <a:xfrm>
            <a:off x="9985248" y="4462272"/>
            <a:ext cx="3822191" cy="1243584"/>
          </a:xfrm>
          <a:prstGeom prst="rect">
            <a:avLst/>
          </a:prstGeom>
          <a:noFill/>
        </p:spPr>
        <p:txBody>
          <a:bodyPr wrap="square" lIns="0" rIns="0" tIns="0" bIns="0">
            <a:spAutoFit/>
          </a:bodyPr>
          <a:lstStyle/>
          <a:p>
            <a:pPr>
              <a:spcAft>
                <a:spcPts val="500"/>
              </a:spcAft>
              <a:defRPr sz="1584" b="0">
                <a:solidFill>
                  <a:srgbClr val="5D7185"/>
                </a:solidFill>
                <a:latin typeface="Noto Sans CJK KR"/>
              </a:defRPr>
            </a:pPr>
            <a:r>
              <a:t>기간 · 사용자 · 사용처 · 상태별 검색</a:t>
            </a:r>
          </a:p>
          <a:p>
            <a:pPr>
              <a:spcAft>
                <a:spcPts val="500"/>
              </a:spcAft>
              <a:defRPr sz="1584" b="0">
                <a:solidFill>
                  <a:srgbClr val="5D7185"/>
                </a:solidFill>
                <a:latin typeface="Noto Sans CJK KR"/>
              </a:defRPr>
            </a:pPr>
            <a:r>
              <a:t>상세 확인 · 수정 · 전표 처리 관리</a:t>
            </a:r>
          </a:p>
          <a:p>
            <a:pPr>
              <a:spcAft>
                <a:spcPts val="500"/>
              </a:spcAft>
              <a:defRPr sz="1584" b="0">
                <a:solidFill>
                  <a:srgbClr val="5D7185"/>
                </a:solidFill>
                <a:latin typeface="Noto Sans CJK KR"/>
              </a:defRPr>
            </a:pPr>
            <a:r>
              <a:t>사진 보기/다운로드 · 검색 결과 CSV</a:t>
            </a:r>
          </a:p>
        </p:txBody>
      </p:sp>
      <p:sp>
        <p:nvSpPr>
          <p:cNvPr id="47" name="Rounded Rectangle 46"/>
          <p:cNvSpPr/>
          <p:nvPr/>
        </p:nvSpPr>
        <p:spPr>
          <a:xfrm>
            <a:off x="585216" y="6071616"/>
            <a:ext cx="13459968" cy="1316736"/>
          </a:xfrm>
          <a:prstGeom prst="roundRect">
            <a:avLst/>
          </a:prstGeom>
          <a:solidFill>
            <a:srgbClr val="E5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6227064"/>
            <a:ext cx="12947904" cy="310896"/>
          </a:xfrm>
          <a:prstGeom prst="rect">
            <a:avLst/>
          </a:prstGeom>
          <a:noFill/>
        </p:spPr>
        <p:txBody>
          <a:bodyPr wrap="square" lIns="0" rIns="0" tIns="0" bIns="0">
            <a:spAutoFit/>
          </a:bodyPr>
          <a:lstStyle/>
          <a:p>
            <a:pPr>
              <a:spcAft>
                <a:spcPts val="500"/>
              </a:spcAft>
              <a:defRPr sz="1800" b="1">
                <a:solidFill>
                  <a:srgbClr val="152D46"/>
                </a:solidFill>
                <a:latin typeface="Noto Sans CJK KR"/>
              </a:defRPr>
            </a:pPr>
            <a:r>
              <a:t>프로그램에 담긴 정보와 입력 기준</a:t>
            </a:r>
          </a:p>
        </p:txBody>
      </p:sp>
      <p:sp>
        <p:nvSpPr>
          <p:cNvPr id="49" name="TextBox 48"/>
          <p:cNvSpPr txBox="1"/>
          <p:nvPr/>
        </p:nvSpPr>
        <p:spPr>
          <a:xfrm>
            <a:off x="822960" y="6647688"/>
            <a:ext cx="12947904" cy="594360"/>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업체명 · 사용일자 · 금액 + 실제 사용자 · 참석 인원수(1~99) · 구체적인 사용 목적 · 사용장소</a:t>
            </a:r>
          </a:p>
          <a:p>
            <a:pPr>
              <a:spcAft>
                <a:spcPts val="500"/>
              </a:spcAft>
              <a:defRPr sz="1512" b="0">
                <a:solidFill>
                  <a:srgbClr val="5D7185"/>
                </a:solidFill>
                <a:latin typeface="Noto Sans CJK KR"/>
              </a:defRPr>
            </a:pPr>
            <a:r>
              <a:t>첨부 지침: 10만원 초과(VAT 포함)는 사용자·인원·목적 기재 / 복리후생비·회의비 전자상거래·PG 건은 금액 무관 + 사용장소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229600"/>
          </a:xfrm>
          <a:prstGeom prst="rect">
            <a:avLst/>
          </a:prstGeom>
          <a:solidFill>
            <a:srgbClr val="008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85216" y="310896"/>
            <a:ext cx="12801600" cy="320040"/>
          </a:xfrm>
          <a:prstGeom prst="rect">
            <a:avLst/>
          </a:prstGeom>
          <a:noFill/>
        </p:spPr>
        <p:txBody>
          <a:bodyPr wrap="square" lIns="0" rIns="0" tIns="0" bIns="0">
            <a:spAutoFit/>
          </a:bodyPr>
          <a:lstStyle/>
          <a:p>
            <a:pPr>
              <a:spcAft>
                <a:spcPts val="500"/>
              </a:spcAft>
              <a:defRPr sz="1296" b="1">
                <a:solidFill>
                  <a:srgbClr val="008F99"/>
                </a:solidFill>
                <a:latin typeface="Noto Sans CJK KR"/>
              </a:defRPr>
            </a:pPr>
            <a:r>
              <a:t>04  /  DEMO · 접속부터 관리자 확인까지</a:t>
            </a:r>
          </a:p>
        </p:txBody>
      </p:sp>
      <p:sp>
        <p:nvSpPr>
          <p:cNvPr id="5" name="TextBox 4"/>
          <p:cNvSpPr txBox="1"/>
          <p:nvPr/>
        </p:nvSpPr>
        <p:spPr>
          <a:xfrm>
            <a:off x="585216" y="768096"/>
            <a:ext cx="13459968" cy="640080"/>
          </a:xfrm>
          <a:prstGeom prst="rect">
            <a:avLst/>
          </a:prstGeom>
          <a:noFill/>
        </p:spPr>
        <p:txBody>
          <a:bodyPr wrap="square" lIns="0" rIns="0" tIns="0" bIns="0">
            <a:spAutoFit/>
          </a:bodyPr>
          <a:lstStyle/>
          <a:p>
            <a:pPr>
              <a:spcAft>
                <a:spcPts val="500"/>
              </a:spcAft>
              <a:defRPr sz="3095" b="1">
                <a:solidFill>
                  <a:srgbClr val="152D46"/>
                </a:solidFill>
                <a:latin typeface="Noto Sans CJK KR"/>
              </a:defRPr>
            </a:pPr>
            <a:r>
              <a:t>QR로 접속하고, 등록한 내역이 어떻게 관리되는지 확인합니다</a:t>
            </a:r>
          </a:p>
        </p:txBody>
      </p:sp>
      <p:sp>
        <p:nvSpPr>
          <p:cNvPr id="6" name="TextBox 5"/>
          <p:cNvSpPr txBox="1"/>
          <p:nvPr/>
        </p:nvSpPr>
        <p:spPr>
          <a:xfrm>
            <a:off x="585216" y="1463040"/>
            <a:ext cx="13459968" cy="502920"/>
          </a:xfrm>
          <a:prstGeom prst="rect">
            <a:avLst/>
          </a:prstGeom>
          <a:noFill/>
        </p:spPr>
        <p:txBody>
          <a:bodyPr wrap="square" lIns="0" rIns="0" tIns="0" bIns="0">
            <a:spAutoFit/>
          </a:bodyPr>
          <a:lstStyle/>
          <a:p>
            <a:pPr>
              <a:spcAft>
                <a:spcPts val="500"/>
              </a:spcAft>
              <a:defRPr sz="1728" b="0">
                <a:solidFill>
                  <a:srgbClr val="5D7185"/>
                </a:solidFill>
                <a:latin typeface="Noto Sans CJK KR"/>
              </a:defRPr>
            </a:pPr>
            <a:r>
              <a:t>시연 순서: 접속 → 촬영·필수정보 입력 → 최종 확인·등록 → 관리자 검색·처리</a:t>
            </a:r>
          </a:p>
        </p:txBody>
      </p:sp>
      <p:sp>
        <p:nvSpPr>
          <p:cNvPr id="7" name="TextBox 6"/>
          <p:cNvSpPr txBox="1"/>
          <p:nvPr/>
        </p:nvSpPr>
        <p:spPr>
          <a:xfrm>
            <a:off x="585216" y="7827264"/>
            <a:ext cx="12801600" cy="228600"/>
          </a:xfrm>
          <a:prstGeom prst="rect">
            <a:avLst/>
          </a:prstGeom>
          <a:noFill/>
        </p:spPr>
        <p:txBody>
          <a:bodyPr wrap="square" lIns="0" rIns="0" tIns="0" bIns="0">
            <a:spAutoFit/>
          </a:bodyPr>
          <a:lstStyle/>
          <a:p>
            <a:pPr>
              <a:spcAft>
                <a:spcPts val="500"/>
              </a:spcAft>
              <a:defRPr sz="1080" b="0">
                <a:solidFill>
                  <a:srgbClr val="5D7185"/>
                </a:solidFill>
                <a:latin typeface="Noto Sans CJK KR"/>
              </a:defRPr>
            </a:pPr>
            <a:r>
              <a:t>AURORA PROJECT  /  BM 업무 효율화 해커톤  /  2026.10.22–23</a:t>
            </a:r>
          </a:p>
        </p:txBody>
      </p:sp>
      <p:sp>
        <p:nvSpPr>
          <p:cNvPr id="8" name="TextBox 7"/>
          <p:cNvSpPr txBox="1"/>
          <p:nvPr/>
        </p:nvSpPr>
        <p:spPr>
          <a:xfrm>
            <a:off x="13487400" y="7772400"/>
            <a:ext cx="640080" cy="274320"/>
          </a:xfrm>
          <a:prstGeom prst="rect">
            <a:avLst/>
          </a:prstGeom>
          <a:noFill/>
        </p:spPr>
        <p:txBody>
          <a:bodyPr wrap="square" lIns="0" rIns="0" tIns="0" bIns="0">
            <a:spAutoFit/>
          </a:bodyPr>
          <a:lstStyle/>
          <a:p>
            <a:pPr>
              <a:spcAft>
                <a:spcPts val="500"/>
              </a:spcAft>
              <a:defRPr sz="1224" b="1">
                <a:solidFill>
                  <a:srgbClr val="008F99"/>
                </a:solidFill>
                <a:latin typeface="Noto Sans CJK KR"/>
              </a:defRPr>
            </a:pPr>
            <a:r>
              <a:t>04 / 04</a:t>
            </a:r>
          </a:p>
        </p:txBody>
      </p:sp>
      <p:sp>
        <p:nvSpPr>
          <p:cNvPr id="9" name="Rounded Rectangle 8"/>
          <p:cNvSpPr/>
          <p:nvPr/>
        </p:nvSpPr>
        <p:spPr>
          <a:xfrm>
            <a:off x="585216" y="2157984"/>
            <a:ext cx="2377440" cy="52486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4"/>
            <a:ext cx="1993392" cy="320040"/>
          </a:xfrm>
          <a:prstGeom prst="rect">
            <a:avLst/>
          </a:prstGeom>
          <a:noFill/>
        </p:spPr>
        <p:txBody>
          <a:bodyPr wrap="square" lIns="0" rIns="0" tIns="0" bIns="0">
            <a:spAutoFit/>
          </a:bodyPr>
          <a:lstStyle/>
          <a:p>
            <a:pPr>
              <a:spcAft>
                <a:spcPts val="500"/>
              </a:spcAft>
              <a:defRPr sz="2016" b="1">
                <a:solidFill>
                  <a:srgbClr val="008F99"/>
                </a:solidFill>
                <a:latin typeface="Noto Sans CJK KR"/>
              </a:defRPr>
            </a:pPr>
            <a:r>
              <a:t>01  접속</a:t>
            </a:r>
          </a:p>
        </p:txBody>
      </p:sp>
      <p:pic>
        <p:nvPicPr>
          <p:cNvPr id="11" name="Picture 10" descr="receipt-qr.png"/>
          <p:cNvPicPr>
            <a:picLocks noChangeAspect="1"/>
          </p:cNvPicPr>
          <p:nvPr/>
        </p:nvPicPr>
        <p:blipFill>
          <a:blip r:embed="rId2"/>
          <a:stretch>
            <a:fillRect/>
          </a:stretch>
        </p:blipFill>
        <p:spPr>
          <a:xfrm>
            <a:off x="813816" y="2834640"/>
            <a:ext cx="1920240" cy="1920240"/>
          </a:xfrm>
          <a:prstGeom prst="rect">
            <a:avLst/>
          </a:prstGeom>
        </p:spPr>
      </p:pic>
      <p:sp>
        <p:nvSpPr>
          <p:cNvPr id="12" name="TextBox 11"/>
          <p:cNvSpPr txBox="1"/>
          <p:nvPr/>
        </p:nvSpPr>
        <p:spPr>
          <a:xfrm>
            <a:off x="786384" y="4892040"/>
            <a:ext cx="1993392" cy="658368"/>
          </a:xfrm>
          <a:prstGeom prst="rect">
            <a:avLst/>
          </a:prstGeom>
          <a:noFill/>
        </p:spPr>
        <p:txBody>
          <a:bodyPr wrap="square" lIns="0" rIns="0" tIns="0" bIns="0">
            <a:spAutoFit/>
          </a:bodyPr>
          <a:lstStyle/>
          <a:p>
            <a:pPr>
              <a:spcAft>
                <a:spcPts val="500"/>
              </a:spcAft>
              <a:defRPr sz="1655" b="1">
                <a:solidFill>
                  <a:srgbClr val="152D46"/>
                </a:solidFill>
                <a:latin typeface="Noto Sans CJK KR"/>
              </a:defRPr>
            </a:pPr>
            <a:r>
              <a:t>스마트폰 카메라로</a:t>
            </a:r>
          </a:p>
          <a:p>
            <a:pPr>
              <a:spcAft>
                <a:spcPts val="500"/>
              </a:spcAft>
              <a:defRPr sz="1655" b="1">
                <a:solidFill>
                  <a:srgbClr val="152D46"/>
                </a:solidFill>
                <a:latin typeface="Noto Sans CJK KR"/>
              </a:defRPr>
            </a:pPr>
            <a:r>
              <a:t>QR 코드 스캔</a:t>
            </a:r>
          </a:p>
        </p:txBody>
      </p:sp>
      <p:sp>
        <p:nvSpPr>
          <p:cNvPr id="13" name="TextBox 12"/>
          <p:cNvSpPr txBox="1"/>
          <p:nvPr/>
        </p:nvSpPr>
        <p:spPr>
          <a:xfrm>
            <a:off x="786384" y="5705856"/>
            <a:ext cx="1993392" cy="914400"/>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포털 → 영수증 관리</a:t>
            </a:r>
          </a:p>
          <a:p>
            <a:pPr>
              <a:spcAft>
                <a:spcPts val="500"/>
              </a:spcAft>
              <a:defRPr sz="1512" b="0">
                <a:solidFill>
                  <a:srgbClr val="5D7185"/>
                </a:solidFill>
                <a:latin typeface="Noto Sans CJK KR"/>
              </a:defRPr>
            </a:pPr>
            <a:r>
              <a:t>또는 아래 주소 접속</a:t>
            </a:r>
          </a:p>
          <a:p>
            <a:pPr>
              <a:spcAft>
                <a:spcPts val="500"/>
              </a:spcAft>
              <a:defRPr sz="1512" b="0">
                <a:solidFill>
                  <a:srgbClr val="5D7185"/>
                </a:solidFill>
                <a:latin typeface="Noto Sans CJK KR"/>
              </a:defRPr>
            </a:pPr>
            <a:r>
              <a:t>별도 앱 설치 불필요</a:t>
            </a:r>
          </a:p>
        </p:txBody>
      </p:sp>
      <p:sp>
        <p:nvSpPr>
          <p:cNvPr id="14" name="Rounded Rectangle 13"/>
          <p:cNvSpPr/>
          <p:nvPr/>
        </p:nvSpPr>
        <p:spPr>
          <a:xfrm>
            <a:off x="3182112" y="2157984"/>
            <a:ext cx="3401568" cy="52486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64992" y="2340864"/>
            <a:ext cx="3035808" cy="320040"/>
          </a:xfrm>
          <a:prstGeom prst="rect">
            <a:avLst/>
          </a:prstGeom>
          <a:noFill/>
        </p:spPr>
        <p:txBody>
          <a:bodyPr wrap="square" lIns="0" rIns="0" tIns="0" bIns="0">
            <a:spAutoFit/>
          </a:bodyPr>
          <a:lstStyle/>
          <a:p>
            <a:pPr>
              <a:spcAft>
                <a:spcPts val="500"/>
              </a:spcAft>
              <a:defRPr sz="1943" b="1">
                <a:solidFill>
                  <a:srgbClr val="008F99"/>
                </a:solidFill>
                <a:latin typeface="Noto Sans CJK KR"/>
              </a:defRPr>
            </a:pPr>
            <a:r>
              <a:t>02  촬영·입력</a:t>
            </a:r>
          </a:p>
        </p:txBody>
      </p:sp>
      <p:pic>
        <p:nvPicPr>
          <p:cNvPr id="16" name="Picture 15" descr="filled.png"/>
          <p:cNvPicPr>
            <a:picLocks noChangeAspect="1"/>
          </p:cNvPicPr>
          <p:nvPr/>
        </p:nvPicPr>
        <p:blipFill>
          <a:blip r:embed="rId3"/>
          <a:stretch>
            <a:fillRect/>
          </a:stretch>
        </p:blipFill>
        <p:spPr>
          <a:xfrm>
            <a:off x="3839228" y="2816352"/>
            <a:ext cx="2087335" cy="2971800"/>
          </a:xfrm>
          <a:prstGeom prst="rect">
            <a:avLst/>
          </a:prstGeom>
        </p:spPr>
      </p:pic>
      <p:sp>
        <p:nvSpPr>
          <p:cNvPr id="17" name="Rounded Rectangle 16"/>
          <p:cNvSpPr/>
          <p:nvPr/>
        </p:nvSpPr>
        <p:spPr>
          <a:xfrm>
            <a:off x="6803136" y="2157984"/>
            <a:ext cx="3401568" cy="52486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86016" y="2340864"/>
            <a:ext cx="3035808" cy="320040"/>
          </a:xfrm>
          <a:prstGeom prst="rect">
            <a:avLst/>
          </a:prstGeom>
          <a:noFill/>
        </p:spPr>
        <p:txBody>
          <a:bodyPr wrap="square" lIns="0" rIns="0" tIns="0" bIns="0">
            <a:spAutoFit/>
          </a:bodyPr>
          <a:lstStyle/>
          <a:p>
            <a:pPr>
              <a:spcAft>
                <a:spcPts val="500"/>
              </a:spcAft>
              <a:defRPr sz="1943" b="1">
                <a:solidFill>
                  <a:srgbClr val="008F99"/>
                </a:solidFill>
                <a:latin typeface="Noto Sans CJK KR"/>
              </a:defRPr>
            </a:pPr>
            <a:r>
              <a:t>03  확인·등록</a:t>
            </a:r>
          </a:p>
        </p:txBody>
      </p:sp>
      <p:pic>
        <p:nvPicPr>
          <p:cNvPr id="19" name="Picture 18" descr="confirm.png"/>
          <p:cNvPicPr>
            <a:picLocks noChangeAspect="1"/>
          </p:cNvPicPr>
          <p:nvPr/>
        </p:nvPicPr>
        <p:blipFill>
          <a:blip r:embed="rId4"/>
          <a:stretch>
            <a:fillRect/>
          </a:stretch>
        </p:blipFill>
        <p:spPr>
          <a:xfrm>
            <a:off x="7070263" y="2816352"/>
            <a:ext cx="2867313" cy="2971800"/>
          </a:xfrm>
          <a:prstGeom prst="rect">
            <a:avLst/>
          </a:prstGeom>
        </p:spPr>
      </p:pic>
      <p:sp>
        <p:nvSpPr>
          <p:cNvPr id="20" name="Rounded Rectangle 19"/>
          <p:cNvSpPr/>
          <p:nvPr/>
        </p:nvSpPr>
        <p:spPr>
          <a:xfrm>
            <a:off x="10424160" y="2157984"/>
            <a:ext cx="3401568" cy="52486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07040" y="2340864"/>
            <a:ext cx="3035808" cy="320040"/>
          </a:xfrm>
          <a:prstGeom prst="rect">
            <a:avLst/>
          </a:prstGeom>
          <a:noFill/>
        </p:spPr>
        <p:txBody>
          <a:bodyPr wrap="square" lIns="0" rIns="0" tIns="0" bIns="0">
            <a:spAutoFit/>
          </a:bodyPr>
          <a:lstStyle/>
          <a:p>
            <a:pPr>
              <a:spcAft>
                <a:spcPts val="500"/>
              </a:spcAft>
              <a:defRPr sz="1943" b="1">
                <a:solidFill>
                  <a:srgbClr val="008F99"/>
                </a:solidFill>
                <a:latin typeface="Noto Sans CJK KR"/>
              </a:defRPr>
            </a:pPr>
            <a:r>
              <a:t>04  관리자 처리</a:t>
            </a:r>
          </a:p>
        </p:txBody>
      </p:sp>
      <p:pic>
        <p:nvPicPr>
          <p:cNvPr id="22" name="Picture 21" descr="admin.png"/>
          <p:cNvPicPr>
            <a:picLocks noChangeAspect="1"/>
          </p:cNvPicPr>
          <p:nvPr/>
        </p:nvPicPr>
        <p:blipFill>
          <a:blip r:embed="rId5"/>
          <a:stretch>
            <a:fillRect/>
          </a:stretch>
        </p:blipFill>
        <p:spPr>
          <a:xfrm>
            <a:off x="10570464" y="2816352"/>
            <a:ext cx="3108960" cy="2439743"/>
          </a:xfrm>
          <a:prstGeom prst="rect">
            <a:avLst/>
          </a:prstGeom>
        </p:spPr>
      </p:pic>
      <p:sp>
        <p:nvSpPr>
          <p:cNvPr id="23" name="TextBox 22"/>
          <p:cNvSpPr txBox="1"/>
          <p:nvPr/>
        </p:nvSpPr>
        <p:spPr>
          <a:xfrm>
            <a:off x="3364992" y="5907024"/>
            <a:ext cx="3035808" cy="1325880"/>
          </a:xfrm>
          <a:prstGeom prst="rect">
            <a:avLst/>
          </a:prstGeom>
          <a:noFill/>
        </p:spPr>
        <p:txBody>
          <a:bodyPr wrap="square" lIns="0" rIns="0" tIns="0" bIns="0">
            <a:spAutoFit/>
          </a:bodyPr>
          <a:lstStyle/>
          <a:p>
            <a:pPr>
              <a:spcAft>
                <a:spcPts val="500"/>
              </a:spcAft>
              <a:defRPr sz="1439" b="0">
                <a:solidFill>
                  <a:srgbClr val="152D46"/>
                </a:solidFill>
                <a:latin typeface="Noto Sans CJK KR"/>
              </a:defRPr>
            </a:pPr>
            <a:r>
              <a:t>① 사진 촬영 → 기본정보 확인</a:t>
            </a:r>
          </a:p>
          <a:p>
            <a:pPr>
              <a:spcAft>
                <a:spcPts val="500"/>
              </a:spcAft>
              <a:defRPr sz="1439" b="0">
                <a:solidFill>
                  <a:srgbClr val="152D46"/>
                </a:solidFill>
                <a:latin typeface="Noto Sans CJK KR"/>
              </a:defRPr>
            </a:pPr>
            <a:r>
              <a:t>② 사용자·인원·목적·장소 입력</a:t>
            </a:r>
          </a:p>
          <a:p>
            <a:pPr>
              <a:spcAft>
                <a:spcPts val="500"/>
              </a:spcAft>
              <a:defRPr sz="1439" b="0">
                <a:solidFill>
                  <a:srgbClr val="152D46"/>
                </a:solidFill>
                <a:latin typeface="Noto Sans CJK KR"/>
              </a:defRPr>
            </a:pPr>
            <a:r>
              <a:t>③ 잘못 읽힌 값은 원본 대조</a:t>
            </a:r>
          </a:p>
          <a:p>
            <a:pPr>
              <a:spcAft>
                <a:spcPts val="500"/>
              </a:spcAft>
              <a:defRPr sz="1439" b="0">
                <a:solidFill>
                  <a:srgbClr val="152D46"/>
                </a:solidFill>
                <a:latin typeface="Noto Sans CJK KR"/>
              </a:defRPr>
            </a:pPr>
            <a:r>
              <a:t>④ 입력 내용 확인 버튼 선택</a:t>
            </a:r>
          </a:p>
        </p:txBody>
      </p:sp>
      <p:sp>
        <p:nvSpPr>
          <p:cNvPr id="24" name="TextBox 23"/>
          <p:cNvSpPr txBox="1"/>
          <p:nvPr/>
        </p:nvSpPr>
        <p:spPr>
          <a:xfrm>
            <a:off x="6986016" y="5907024"/>
            <a:ext cx="3035808" cy="1325880"/>
          </a:xfrm>
          <a:prstGeom prst="rect">
            <a:avLst/>
          </a:prstGeom>
          <a:noFill/>
        </p:spPr>
        <p:txBody>
          <a:bodyPr wrap="square" lIns="0" rIns="0" tIns="0" bIns="0">
            <a:spAutoFit/>
          </a:bodyPr>
          <a:lstStyle/>
          <a:p>
            <a:pPr>
              <a:spcAft>
                <a:spcPts val="500"/>
              </a:spcAft>
              <a:defRPr sz="1439" b="0">
                <a:solidFill>
                  <a:srgbClr val="152D46"/>
                </a:solidFill>
                <a:latin typeface="Noto Sans CJK KR"/>
              </a:defRPr>
            </a:pPr>
            <a:r>
              <a:t>① 확인 화면에서 항목 재검토</a:t>
            </a:r>
          </a:p>
          <a:p>
            <a:pPr>
              <a:spcAft>
                <a:spcPts val="500"/>
              </a:spcAft>
              <a:defRPr sz="1439" b="0">
                <a:solidFill>
                  <a:srgbClr val="152D46"/>
                </a:solidFill>
                <a:latin typeface="Noto Sans CJK KR"/>
              </a:defRPr>
            </a:pPr>
            <a:r>
              <a:t>② 「등록하기」 선택</a:t>
            </a:r>
          </a:p>
          <a:p>
            <a:pPr>
              <a:spcAft>
                <a:spcPts val="500"/>
              </a:spcAft>
              <a:defRPr sz="1439" b="0">
                <a:solidFill>
                  <a:srgbClr val="152D46"/>
                </a:solidFill>
                <a:latin typeface="Noto Sans CJK KR"/>
              </a:defRPr>
            </a:pPr>
            <a:r>
              <a:t>③ 완료 화면·등록번호 확인</a:t>
            </a:r>
          </a:p>
          <a:p>
            <a:pPr>
              <a:spcAft>
                <a:spcPts val="500"/>
              </a:spcAft>
              <a:defRPr sz="1439" b="0">
                <a:solidFill>
                  <a:srgbClr val="152D46"/>
                </a:solidFill>
                <a:latin typeface="Noto Sans CJK KR"/>
              </a:defRPr>
            </a:pPr>
            <a:r>
              <a:t>④ 본인 등록 내용에서 상태 조회</a:t>
            </a:r>
          </a:p>
        </p:txBody>
      </p:sp>
      <p:sp>
        <p:nvSpPr>
          <p:cNvPr id="25" name="TextBox 24"/>
          <p:cNvSpPr txBox="1"/>
          <p:nvPr/>
        </p:nvSpPr>
        <p:spPr>
          <a:xfrm>
            <a:off x="10607040" y="5907024"/>
            <a:ext cx="3035808" cy="1325880"/>
          </a:xfrm>
          <a:prstGeom prst="rect">
            <a:avLst/>
          </a:prstGeom>
          <a:noFill/>
        </p:spPr>
        <p:txBody>
          <a:bodyPr wrap="square" lIns="0" rIns="0" tIns="0" bIns="0">
            <a:spAutoFit/>
          </a:bodyPr>
          <a:lstStyle/>
          <a:p>
            <a:pPr>
              <a:spcAft>
                <a:spcPts val="500"/>
              </a:spcAft>
              <a:defRPr sz="1439" b="0">
                <a:solidFill>
                  <a:srgbClr val="152D46"/>
                </a:solidFill>
                <a:latin typeface="Noto Sans CJK KR"/>
              </a:defRPr>
            </a:pPr>
            <a:r>
              <a:t>① 관리자 접속 → 기간/사용자 검색</a:t>
            </a:r>
          </a:p>
          <a:p>
            <a:pPr>
              <a:spcAft>
                <a:spcPts val="500"/>
              </a:spcAft>
              <a:defRPr sz="1439" b="0">
                <a:solidFill>
                  <a:srgbClr val="152D46"/>
                </a:solidFill>
                <a:latin typeface="Noto Sans CJK KR"/>
              </a:defRPr>
            </a:pPr>
            <a:r>
              <a:t>② 사진·사유·인원·금액 대조</a:t>
            </a:r>
          </a:p>
          <a:p>
            <a:pPr>
              <a:spcAft>
                <a:spcPts val="500"/>
              </a:spcAft>
              <a:defRPr sz="1439" b="0">
                <a:solidFill>
                  <a:srgbClr val="152D46"/>
                </a:solidFill>
                <a:latin typeface="Noto Sans CJK KR"/>
              </a:defRPr>
            </a:pPr>
            <a:r>
              <a:t>③ 전표 처리 X/O와 상태 관리</a:t>
            </a:r>
          </a:p>
          <a:p>
            <a:pPr>
              <a:spcAft>
                <a:spcPts val="500"/>
              </a:spcAft>
              <a:defRPr sz="1439" b="0">
                <a:solidFill>
                  <a:srgbClr val="152D46"/>
                </a:solidFill>
                <a:latin typeface="Noto Sans CJK KR"/>
              </a:defRPr>
            </a:pPr>
            <a:r>
              <a:t>④ CSV 내려받기로 취합</a:t>
            </a:r>
          </a:p>
        </p:txBody>
      </p:sp>
      <p:sp>
        <p:nvSpPr>
          <p:cNvPr id="26" name="TextBox 25"/>
          <p:cNvSpPr txBox="1"/>
          <p:nvPr/>
        </p:nvSpPr>
        <p:spPr>
          <a:xfrm>
            <a:off x="585216" y="7470648"/>
            <a:ext cx="13459968" cy="274320"/>
          </a:xfrm>
          <a:prstGeom prst="rect">
            <a:avLst/>
          </a:prstGeom>
          <a:noFill/>
        </p:spPr>
        <p:txBody>
          <a:bodyPr wrap="square" lIns="0" rIns="0" tIns="0" bIns="0">
            <a:spAutoFit/>
          </a:bodyPr>
          <a:lstStyle/>
          <a:p>
            <a:pPr>
              <a:spcAft>
                <a:spcPts val="500"/>
              </a:spcAft>
              <a:defRPr sz="1224" b="0">
                <a:solidFill>
                  <a:srgbClr val="5D7185"/>
                </a:solidFill>
                <a:latin typeface="Noto Sans CJK KR"/>
              </a:defRPr>
            </a:pPr>
            <a:r>
              <a:rPr>
                <a:hlinkClick r:id="rId7"/>
              </a:rPr>
              <a:t>접속주소: https://receipt.sskim4912.workers.dev/   |   화면: 최신 저장소 빌드 로컬 실행 · 가상 데이터 · 운영 화면 직접 캡처 아님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