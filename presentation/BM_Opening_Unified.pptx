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사용자의 최신 장표 내용을 동일 서체, 한 가지 강조색, 한 가지 배경, 동일 규격의 표로 재정리했다. 결과물 순서는 영수증→출입→식사. AI 실행 중 판독은 영수증의 Vision/Vertex에 적용되며 AI 개발 도구 활용과 구분한다. 출입 통합 조회, 식수 자동 제출은 사용자 제공 장표의 기능 설명을 반영했다. 절감 수치는 추가하지 않았다. 웹 참고를 완료했다고 주장하지 않는다. 포털 언급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246888"/>
            <a:ext cx="134599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526B7A"/>
                </a:solidFill>
                <a:latin typeface="Noto Sans CJK KR"/>
              </a:defRPr>
            </a:pPr>
            <a:r>
              <a:t>중부·강원 BM 지역협의체  |  BM 워크샵 해커톤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58952"/>
            <a:ext cx="1345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36" b="1">
                <a:solidFill>
                  <a:srgbClr val="183449"/>
                </a:solidFill>
                <a:latin typeface="Noto Sans CJK KR"/>
              </a:defRPr>
            </a:pPr>
            <a:r>
              <a:t>AI·Cloud 기반 관리팀 반복 업무 개선 및 업무 효율화 추진계획(안)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89888"/>
            <a:ext cx="13459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526B7A"/>
                </a:solidFill>
                <a:latin typeface="Noto Sans CJK KR"/>
              </a:defRPr>
            </a:pPr>
            <a:r>
              <a:t>반복 업무를 줄이고, 관리팀이 비용 판단·이슈 대응·현장 지원에 집중하는 환경 조성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965960"/>
            <a:ext cx="13459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1">
                <a:solidFill>
                  <a:srgbClr val="087F88"/>
                </a:solidFill>
                <a:latin typeface="Noto Sans CJK KR"/>
              </a:defRPr>
            </a:pPr>
            <a:r>
              <a:t>개선할 핵심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2359152"/>
            <a:ext cx="13459968" cy="859536"/>
          </a:xfrm>
          <a:prstGeom prst="rect">
            <a:avLst/>
          </a:prstGeom>
          <a:solidFill>
            <a:srgbClr val="ED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578608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4" b="1">
                <a:solidFill>
                  <a:srgbClr val="087F88"/>
                </a:solidFill>
                <a:latin typeface="Noto Sans CJK KR"/>
              </a:defRPr>
            </a:pPr>
            <a:r>
              <a:t>미접수 건 재확인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7904" y="2578608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4" b="1">
                <a:solidFill>
                  <a:srgbClr val="087F88"/>
                </a:solidFill>
                <a:latin typeface="Noto Sans CJK KR"/>
              </a:defRPr>
            </a:pPr>
            <a:r>
              <a:t>단순 정보 반복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1872" y="2551176"/>
            <a:ext cx="9144" cy="4663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14560" y="2578608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4" b="1">
                <a:solidFill>
                  <a:srgbClr val="087F88"/>
                </a:solidFill>
                <a:latin typeface="Noto Sans CJK KR"/>
              </a:defRPr>
            </a:pPr>
            <a:r>
              <a:t>수작업 취합·송부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8528" y="2551176"/>
            <a:ext cx="9144" cy="4663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3547872"/>
            <a:ext cx="13459968" cy="18288"/>
          </a:xfrm>
          <a:prstGeom prst="rect">
            <a:avLst/>
          </a:prstGeom>
          <a:solidFill>
            <a:srgbClr val="08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288" y="3721608"/>
            <a:ext cx="3547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3449"/>
                </a:solidFill>
                <a:latin typeface="Noto Sans CJK KR"/>
              </a:defRPr>
            </a:pPr>
            <a:r>
              <a:t>01  법인카드 영수증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3721608"/>
            <a:ext cx="3547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3449"/>
                </a:solidFill>
                <a:latin typeface="Noto Sans CJK KR"/>
              </a:defRPr>
            </a:pPr>
            <a:r>
              <a:t>02  현장 출입 신청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7856" y="3721608"/>
            <a:ext cx="3547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3449"/>
                </a:solidFill>
                <a:latin typeface="Noto Sans CJK KR"/>
              </a:defRPr>
            </a:pPr>
            <a:r>
              <a:t>03  식사 신청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4242816"/>
            <a:ext cx="13459968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4453128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087F88"/>
                </a:solidFill>
                <a:latin typeface="Noto Sans CJK KR"/>
              </a:defRPr>
            </a:pPr>
            <a:r>
              <a:t>현장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5303520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087F88"/>
                </a:solidFill>
                <a:latin typeface="Noto Sans CJK KR"/>
              </a:defRPr>
            </a:pPr>
            <a:r>
              <a:t>적용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24535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087F88"/>
                </a:solidFill>
                <a:latin typeface="Noto Sans CJK KR"/>
              </a:defRPr>
            </a:pPr>
            <a:r>
              <a:t>개선 내용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4453128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종이 영수증 분실</a:t>
            </a:r>
          </a:p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인원·사용 사유 누락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5303520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Vision·Vertex AI 판독</a:t>
            </a:r>
          </a:p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Cloud 웹 개별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6245352"/>
            <a:ext cx="354787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087F88"/>
                </a:solidFill>
                <a:latin typeface="Noto Sans CJK KR"/>
              </a:defRPr>
            </a:pPr>
            <a:r>
              <a:t>사진·사용정보 연결</a:t>
            </a:r>
          </a:p>
          <a:p>
            <a:pPr>
              <a:spcAft>
                <a:spcPts val="500"/>
              </a:spcAft>
              <a:defRPr sz="1655" b="1">
                <a:solidFill>
                  <a:srgbClr val="087F88"/>
                </a:solidFill>
                <a:latin typeface="Noto Sans CJK KR"/>
              </a:defRPr>
            </a:pPr>
            <a:r>
              <a:t>월말 재문의·확인 부담 완화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453128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신청 창구 분산</a:t>
            </a:r>
          </a:p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방문자 확인 어려움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5303520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Cloud 웹 개별 신청</a:t>
            </a:r>
          </a:p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관리팀 통합 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6245352"/>
            <a:ext cx="354787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087F88"/>
                </a:solidFill>
                <a:latin typeface="Noto Sans CJK KR"/>
              </a:defRPr>
            </a:pPr>
            <a:r>
              <a:t>신청 경로 통일</a:t>
            </a:r>
          </a:p>
          <a:p>
            <a:pPr>
              <a:spcAft>
                <a:spcPts val="500"/>
              </a:spcAft>
              <a:defRPr sz="1655" b="1">
                <a:solidFill>
                  <a:srgbClr val="087F88"/>
                </a:solidFill>
                <a:latin typeface="Noto Sans CJK KR"/>
              </a:defRPr>
            </a:pPr>
            <a:r>
              <a:t>전달 혼선·재확인 감소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1616" y="3703320"/>
            <a:ext cx="9144" cy="316382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77856" y="4453128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휴가·출장·팀별 식수</a:t>
            </a:r>
          </a:p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수작업 취합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7856" y="5303520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Cloud 웹 직접 신청</a:t>
            </a:r>
          </a:p>
          <a:p>
            <a:pPr>
              <a:spcAft>
                <a:spcPts val="500"/>
              </a:spcAft>
              <a:defRPr sz="1655" b="0">
                <a:solidFill>
                  <a:srgbClr val="183449"/>
                </a:solidFill>
                <a:latin typeface="Noto Sans CJK KR"/>
              </a:defRPr>
            </a:pPr>
            <a:r>
              <a:t>식당 관리자에게 식수 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7856" y="6245352"/>
            <a:ext cx="354787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087F88"/>
                </a:solidFill>
                <a:latin typeface="Noto Sans CJK KR"/>
              </a:defRPr>
            </a:pPr>
            <a:r>
              <a:t>식수 취합·전달 간소화</a:t>
            </a:r>
          </a:p>
          <a:p>
            <a:pPr>
              <a:spcAft>
                <a:spcPts val="500"/>
              </a:spcAft>
              <a:defRPr sz="1655" b="1">
                <a:solidFill>
                  <a:srgbClr val="087F88"/>
                </a:solidFill>
                <a:latin typeface="Noto Sans CJK KR"/>
              </a:defRPr>
            </a:pPr>
            <a:r>
              <a:t>개별 접수·재취합 부담 완화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3703320"/>
            <a:ext cx="9144" cy="316382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" y="5148072"/>
            <a:ext cx="13459968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216" y="6089904"/>
            <a:ext cx="13459968" cy="9144"/>
          </a:xfrm>
          <a:prstGeom prst="rect">
            <a:avLst/>
          </a:prstGeom>
          <a:solidFill>
            <a:srgbClr val="D6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" y="7040880"/>
            <a:ext cx="13459968" cy="18288"/>
          </a:xfrm>
          <a:prstGeom prst="rect">
            <a:avLst/>
          </a:prstGeom>
          <a:solidFill>
            <a:srgbClr val="08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7315200"/>
            <a:ext cx="1345996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526B7A"/>
                </a:solidFill>
                <a:latin typeface="Noto Sans CJK KR"/>
              </a:defRPr>
            </a:pPr>
            <a:r>
              <a:t>AI  영수증 정보를 읽고 정리하는 인공지능   |   Cloud  인터넷으로 접속해 정보를 저장·공유하는 환경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7836408"/>
            <a:ext cx="12938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80" b="0">
                <a:solidFill>
                  <a:srgbClr val="526B7A"/>
                </a:solidFill>
                <a:latin typeface="Noto Sans CJK KR"/>
              </a:defRPr>
            </a:pPr>
            <a:r>
              <a:t>AI 도구로 구현 · Cloud로 운영  /  2026.10.22–23 BM 워크샵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97128" y="7808975"/>
            <a:ext cx="448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1">
                <a:solidFill>
                  <a:srgbClr val="087F88"/>
                </a:solidFill>
                <a:latin typeface="Noto Sans CJK K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