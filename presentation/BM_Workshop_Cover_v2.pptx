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장은 전체 발표의 안내도입니다. 이번 해커톤의 결과물은 new_meal(식사 신청), receipt(법인카드 영수증 관리), permit(현장 출입 신청)의 세 가지 시스템입니다. AURORA 포털은 이 시스템들을 연결하는 통합 접속 창구로 소개합니다. 포털의 공통 로그인, 시스템 간 데이터 자동 통합, ERP 자동 전표 연동을 구현했다는 뜻은 아닙니다. Cloud Vision과 Vertex AI 기반 자동 판독은 영수증 시스템 기능이며 식사·출입 시스템에도 AI 판독이 적용된 것으로 표현하지 않습니다. 세 결과물은 포털 소스의 연결 메뉴와 사용자가 첨부한 Codex 프로젝트 목록을 기준으로 정리했습니다. 식사·출입 시스템의 상세 내부 승인 기능은 확인하지 않아 기재하지 않았습니다. 효과는 추진 목적과 기대효과이며 시간 절감률은 실측하지 않았습니다. 2~4페이지는 기존 영수증 관리 설명으로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22960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1089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008F99"/>
                </a:solidFill>
                <a:latin typeface="Noto Sans CJK KR"/>
              </a:defRPr>
            </a:pPr>
            <a:r>
              <a:t>01  /  OVERVIEW · 추진 배경과 해커톤 결과물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768096"/>
            <a:ext cx="134599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152D46"/>
                </a:solidFill>
                <a:latin typeface="Noto Sans CJK KR"/>
              </a:defRPr>
            </a:pPr>
            <a:r>
              <a:t>AI Cloud 기반 BM 업무 효율화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34599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0">
                <a:solidFill>
                  <a:srgbClr val="5D7185"/>
                </a:solidFill>
                <a:latin typeface="Noto Sans CJK KR"/>
              </a:defRPr>
            </a:pPr>
            <a:r>
              <a:t>반복 입력·수정 후 재확인·취합과 송부를 줄여, BM의 중요한 업무에 집중합니다.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27264"/>
            <a:ext cx="1280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80" b="0">
                <a:solidFill>
                  <a:srgbClr val="5D7185"/>
                </a:solidFill>
                <a:latin typeface="Noto Sans CJK KR"/>
              </a:defRPr>
            </a:pPr>
            <a:r>
              <a:t>AURORA PROJECT  /  BM 업무 효율화 해커톤  /  2026.10.22–23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87400" y="77724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1">
                <a:solidFill>
                  <a:srgbClr val="008F99"/>
                </a:solidFill>
                <a:latin typeface="Noto Sans CJK KR"/>
              </a:defRPr>
            </a:pPr>
            <a:r>
              <a:t>01 /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103120"/>
            <a:ext cx="13459968" cy="566928"/>
          </a:xfrm>
          <a:prstGeom prst="roundRect">
            <a:avLst/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21992"/>
            <a:ext cx="12893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FFFFFF"/>
                </a:solidFill>
                <a:latin typeface="Noto Sans CJK KR"/>
              </a:defRPr>
            </a:pPr>
            <a:r>
              <a:t>이번 해커톤의 결과물 3가지  |  식사 신청 · 영수증 관리 · 현장 출입 신청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2852928"/>
            <a:ext cx="429768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9923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43" b="1">
                <a:solidFill>
                  <a:srgbClr val="008F99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10712"/>
            <a:ext cx="382219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152D46"/>
                </a:solidFill>
                <a:latin typeface="Noto Sans CJK KR"/>
              </a:defRPr>
            </a:pPr>
            <a:r>
              <a:t>식사 신청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77056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1">
                <a:solidFill>
                  <a:srgbClr val="008F99"/>
                </a:solidFill>
                <a:latin typeface="Noto Sans CJK KR"/>
              </a:defRPr>
            </a:pPr>
            <a:r>
              <a:t>식사 수요를 온라인으로 모으기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88536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조식·중식·석식 신청 및 내역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0">
                <a:solidFill>
                  <a:srgbClr val="5D7185"/>
                </a:solidFill>
                <a:latin typeface="Noto Sans CJK KR"/>
              </a:defRPr>
            </a:pPr>
            <a:r>
              <a:t>줄일 낭비  신청 내용 개별 접수·재취합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85232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1">
                <a:solidFill>
                  <a:srgbClr val="152D46"/>
                </a:solidFill>
                <a:latin typeface="Noto Sans CJK KR"/>
              </a:defRPr>
            </a:pPr>
            <a:r>
              <a:t>한곳에서 신청하고 내역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852928"/>
            <a:ext cx="429768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4104" y="299923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43" b="1">
                <a:solidFill>
                  <a:srgbClr val="008F99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3410712"/>
            <a:ext cx="382219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152D46"/>
                </a:solidFill>
                <a:latin typeface="Noto Sans CJK KR"/>
              </a:defRPr>
            </a:pPr>
            <a:r>
              <a:t>법인카드 영수증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3877056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1">
                <a:solidFill>
                  <a:srgbClr val="008F99"/>
                </a:solidFill>
                <a:latin typeface="Noto Sans CJK KR"/>
              </a:defRPr>
            </a:pPr>
            <a:r>
              <a:t>사진을 관리 가능한 데이터로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4288536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촬영 → AI 판독 → 사용정보 → 관리자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4937760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0">
                <a:solidFill>
                  <a:srgbClr val="5D7185"/>
                </a:solidFill>
                <a:latin typeface="Noto Sans CJK KR"/>
              </a:defRPr>
            </a:pPr>
            <a:r>
              <a:t>줄일 낭비  기본정보 재입력·사용 사유 재문의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5285232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1">
                <a:solidFill>
                  <a:srgbClr val="152D46"/>
                </a:solidFill>
                <a:latin typeface="Noto Sans CJK KR"/>
              </a:defRPr>
            </a:pPr>
            <a:r>
              <a:t>원본·사용정보 연결, 확인·취합 부담 완화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47504" y="2852928"/>
            <a:ext cx="429768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299923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43" b="1">
                <a:solidFill>
                  <a:srgbClr val="008F99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3410712"/>
            <a:ext cx="382219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152D46"/>
                </a:solidFill>
                <a:latin typeface="Noto Sans CJK KR"/>
              </a:defRPr>
            </a:pPr>
            <a:r>
              <a:t>현장 출입 신청 시스템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3877056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1">
                <a:solidFill>
                  <a:srgbClr val="008F99"/>
                </a:solidFill>
                <a:latin typeface="Noto Sans CJK KR"/>
              </a:defRPr>
            </a:pPr>
            <a:r>
              <a:t>방문·출입 신청 창구 통일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4288536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방문 및 현장 출입 온라인 신청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8" y="4937760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0">
                <a:solidFill>
                  <a:srgbClr val="5D7185"/>
                </a:solidFill>
                <a:latin typeface="Noto Sans CJK KR"/>
              </a:defRPr>
            </a:pPr>
            <a:r>
              <a:t>줄일 낭비  신청정보 반복 전달·누락 재확인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5285232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1">
                <a:solidFill>
                  <a:srgbClr val="152D46"/>
                </a:solidFill>
                <a:latin typeface="Noto Sans CJK KR"/>
              </a:defRPr>
            </a:pPr>
            <a:r>
              <a:t>신청 경로 통일, 전달 과정의 혼선 감소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" y="5907024"/>
            <a:ext cx="13459968" cy="987552"/>
          </a:xfrm>
          <a:prstGeom prst="roundRect">
            <a:avLst/>
          </a:prstGeom>
          <a:solidFill>
            <a:srgbClr val="E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016752"/>
            <a:ext cx="12938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2D46"/>
                </a:solidFill>
                <a:latin typeface="Noto Sans CJK KR"/>
              </a:defRPr>
            </a:pPr>
            <a:r>
              <a:t>공통으로 없애고 싶은 낭비요소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46520"/>
            <a:ext cx="12938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5D7185"/>
                </a:solidFill>
                <a:latin typeface="Noto Sans CJK KR"/>
              </a:defRPr>
            </a:pPr>
            <a:r>
              <a:t>반복 입력  같은 정보 다시 쓰기     |     재확인  수정·누락을 전화로 확인     |     취합·송부  파일을 따로 모아 전달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7141464"/>
            <a:ext cx="134599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F99"/>
                </a:solidFill>
                <a:latin typeface="Noto Sans CJK KR"/>
              </a:defRPr>
            </a:pPr>
            <a:r>
              <a:t>AURORA 포털에서 한 번에 접속  →  직원은 직접 기록 · 관리팀은 확인과 처리 · BM은 판단과 현장 지원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